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7" r:id="rId1"/>
  </p:sldMasterIdLst>
  <p:notesMasterIdLst>
    <p:notesMasterId r:id="rId33"/>
  </p:notesMasterIdLst>
  <p:sldIdLst>
    <p:sldId id="390" r:id="rId2"/>
    <p:sldId id="400" r:id="rId3"/>
    <p:sldId id="429" r:id="rId4"/>
    <p:sldId id="403" r:id="rId5"/>
    <p:sldId id="404" r:id="rId6"/>
    <p:sldId id="430" r:id="rId7"/>
    <p:sldId id="433" r:id="rId8"/>
    <p:sldId id="434" r:id="rId9"/>
    <p:sldId id="435" r:id="rId10"/>
    <p:sldId id="432" r:id="rId11"/>
    <p:sldId id="407" r:id="rId12"/>
    <p:sldId id="405" r:id="rId13"/>
    <p:sldId id="396" r:id="rId14"/>
    <p:sldId id="406" r:id="rId15"/>
    <p:sldId id="436" r:id="rId16"/>
    <p:sldId id="438" r:id="rId17"/>
    <p:sldId id="437" r:id="rId18"/>
    <p:sldId id="439" r:id="rId19"/>
    <p:sldId id="408" r:id="rId20"/>
    <p:sldId id="409" r:id="rId21"/>
    <p:sldId id="426" r:id="rId22"/>
    <p:sldId id="410" r:id="rId23"/>
    <p:sldId id="411" r:id="rId24"/>
    <p:sldId id="412" r:id="rId25"/>
    <p:sldId id="413" r:id="rId26"/>
    <p:sldId id="414" r:id="rId27"/>
    <p:sldId id="418" r:id="rId28"/>
    <p:sldId id="440" r:id="rId29"/>
    <p:sldId id="441" r:id="rId30"/>
    <p:sldId id="428" r:id="rId31"/>
    <p:sldId id="424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F365B7-DEB1-4EA0-8FBF-8D6B6BCEEE84}" v="6" dt="2025-04-13T15:30:08.887"/>
    <p1510:client id="{C66FE1DB-5861-4B66-8C45-B546E2B81D72}" v="287" dt="2025-04-14T10:10:31.1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09"/>
  </p:normalViewPr>
  <p:slideViewPr>
    <p:cSldViewPr snapToGrid="0">
      <p:cViewPr varScale="1">
        <p:scale>
          <a:sx n="62" d="100"/>
          <a:sy n="62" d="100"/>
        </p:scale>
        <p:origin x="97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UCCI LORENZO" userId="S::l.bucci16@studenti.uniba.it::4b6b8129-fa5a-420d-b829-6261161c1efb" providerId="AD" clId="Web-{605E8E85-B4F4-4DEB-A400-C3EACBCA20DA}"/>
    <pc:docChg chg="modSld">
      <pc:chgData name="BUCCI LORENZO" userId="S::l.bucci16@studenti.uniba.it::4b6b8129-fa5a-420d-b829-6261161c1efb" providerId="AD" clId="Web-{605E8E85-B4F4-4DEB-A400-C3EACBCA20DA}" dt="2025-04-13T15:26:48.929" v="8" actId="20577"/>
      <pc:docMkLst>
        <pc:docMk/>
      </pc:docMkLst>
      <pc:sldChg chg="modSp">
        <pc:chgData name="BUCCI LORENZO" userId="S::l.bucci16@studenti.uniba.it::4b6b8129-fa5a-420d-b829-6261161c1efb" providerId="AD" clId="Web-{605E8E85-B4F4-4DEB-A400-C3EACBCA20DA}" dt="2025-04-13T15:26:48.929" v="8" actId="20577"/>
        <pc:sldMkLst>
          <pc:docMk/>
          <pc:sldMk cId="2007734564" sldId="409"/>
        </pc:sldMkLst>
        <pc:graphicFrameChg chg="modGraphic">
          <ac:chgData name="BUCCI LORENZO" userId="S::l.bucci16@studenti.uniba.it::4b6b8129-fa5a-420d-b829-6261161c1efb" providerId="AD" clId="Web-{605E8E85-B4F4-4DEB-A400-C3EACBCA20DA}" dt="2025-04-13T15:26:48.929" v="8" actId="20577"/>
          <ac:graphicFrameMkLst>
            <pc:docMk/>
            <pc:sldMk cId="2007734564" sldId="409"/>
            <ac:graphicFrameMk id="9" creationId="{CA96B1B4-0B81-A733-ECA7-96E816148DD6}"/>
          </ac:graphicFrameMkLst>
        </pc:graphicFrameChg>
      </pc:sldChg>
    </pc:docChg>
  </pc:docChgLst>
  <pc:docChgLst>
    <pc:chgData name="BUCCI LORENZO" userId="S::l.bucci16@studenti.uniba.it::4b6b8129-fa5a-420d-b829-6261161c1efb" providerId="AD" clId="Web-{01F365B7-DEB1-4EA0-8FBF-8D6B6BCEEE84}"/>
    <pc:docChg chg="modSld">
      <pc:chgData name="BUCCI LORENZO" userId="S::l.bucci16@studenti.uniba.it::4b6b8129-fa5a-420d-b829-6261161c1efb" providerId="AD" clId="Web-{01F365B7-DEB1-4EA0-8FBF-8D6B6BCEEE84}" dt="2025-04-13T15:30:08.887" v="5" actId="20577"/>
      <pc:docMkLst>
        <pc:docMk/>
      </pc:docMkLst>
      <pc:sldChg chg="modSp">
        <pc:chgData name="BUCCI LORENZO" userId="S::l.bucci16@studenti.uniba.it::4b6b8129-fa5a-420d-b829-6261161c1efb" providerId="AD" clId="Web-{01F365B7-DEB1-4EA0-8FBF-8D6B6BCEEE84}" dt="2025-04-13T15:30:08.887" v="5" actId="20577"/>
        <pc:sldMkLst>
          <pc:docMk/>
          <pc:sldMk cId="877025696" sldId="424"/>
        </pc:sldMkLst>
        <pc:spChg chg="mod">
          <ac:chgData name="BUCCI LORENZO" userId="S::l.bucci16@studenti.uniba.it::4b6b8129-fa5a-420d-b829-6261161c1efb" providerId="AD" clId="Web-{01F365B7-DEB1-4EA0-8FBF-8D6B6BCEEE84}" dt="2025-04-13T15:30:08.887" v="5" actId="20577"/>
          <ac:spMkLst>
            <pc:docMk/>
            <pc:sldMk cId="877025696" sldId="424"/>
            <ac:spMk id="4" creationId="{CA26E8FF-4AF3-9591-643E-A6FB73DBCE4E}"/>
          </ac:spMkLst>
        </pc:spChg>
      </pc:sldChg>
    </pc:docChg>
  </pc:docChgLst>
  <pc:docChgLst>
    <pc:chgData name="Giuseppe Spillo" userId="S::giuseppe.spillo@uniba.it::50618fd6-17ec-45b1-8584-0df76127b568" providerId="AD" clId="Web-{C66FE1DB-5861-4B66-8C45-B546E2B81D72}"/>
    <pc:docChg chg="modSld">
      <pc:chgData name="Giuseppe Spillo" userId="S::giuseppe.spillo@uniba.it::50618fd6-17ec-45b1-8584-0df76127b568" providerId="AD" clId="Web-{C66FE1DB-5861-4B66-8C45-B546E2B81D72}" dt="2025-04-14T10:10:31.176" v="135" actId="20577"/>
      <pc:docMkLst>
        <pc:docMk/>
      </pc:docMkLst>
      <pc:sldChg chg="modSp">
        <pc:chgData name="Giuseppe Spillo" userId="S::giuseppe.spillo@uniba.it::50618fd6-17ec-45b1-8584-0df76127b568" providerId="AD" clId="Web-{C66FE1DB-5861-4B66-8C45-B546E2B81D72}" dt="2025-04-14T10:10:31.176" v="135" actId="20577"/>
        <pc:sldMkLst>
          <pc:docMk/>
          <pc:sldMk cId="42470016" sldId="408"/>
        </pc:sldMkLst>
        <pc:spChg chg="mod">
          <ac:chgData name="Giuseppe Spillo" userId="S::giuseppe.spillo@uniba.it::50618fd6-17ec-45b1-8584-0df76127b568" providerId="AD" clId="Web-{C66FE1DB-5861-4B66-8C45-B546E2B81D72}" dt="2025-04-14T10:10:31.176" v="135" actId="20577"/>
          <ac:spMkLst>
            <pc:docMk/>
            <pc:sldMk cId="42470016" sldId="408"/>
            <ac:spMk id="16" creationId="{4CE4E3B7-569C-0F02-9D3E-8BDCC0CD9375}"/>
          </ac:spMkLst>
        </pc:spChg>
      </pc:sldChg>
      <pc:sldChg chg="modSp">
        <pc:chgData name="Giuseppe Spillo" userId="S::giuseppe.spillo@uniba.it::50618fd6-17ec-45b1-8584-0df76127b568" providerId="AD" clId="Web-{C66FE1DB-5861-4B66-8C45-B546E2B81D72}" dt="2025-04-14T10:05:43.602" v="5" actId="20577"/>
        <pc:sldMkLst>
          <pc:docMk/>
          <pc:sldMk cId="2704509169" sldId="432"/>
        </pc:sldMkLst>
        <pc:spChg chg="mod">
          <ac:chgData name="Giuseppe Spillo" userId="S::giuseppe.spillo@uniba.it::50618fd6-17ec-45b1-8584-0df76127b568" providerId="AD" clId="Web-{C66FE1DB-5861-4B66-8C45-B546E2B81D72}" dt="2025-04-14T10:05:43.602" v="5" actId="20577"/>
          <ac:spMkLst>
            <pc:docMk/>
            <pc:sldMk cId="2704509169" sldId="432"/>
            <ac:spMk id="5" creationId="{BB2206B3-A4B5-6D13-84EB-67B925F80E87}"/>
          </ac:spMkLst>
        </pc:spChg>
      </pc:sldChg>
      <pc:sldChg chg="modSp">
        <pc:chgData name="Giuseppe Spillo" userId="S::giuseppe.spillo@uniba.it::50618fd6-17ec-45b1-8584-0df76127b568" providerId="AD" clId="Web-{C66FE1DB-5861-4B66-8C45-B546E2B81D72}" dt="2025-04-14T10:07:55.951" v="56" actId="20577"/>
        <pc:sldMkLst>
          <pc:docMk/>
          <pc:sldMk cId="3263429344" sldId="433"/>
        </pc:sldMkLst>
        <pc:spChg chg="mod">
          <ac:chgData name="Giuseppe Spillo" userId="S::giuseppe.spillo@uniba.it::50618fd6-17ec-45b1-8584-0df76127b568" providerId="AD" clId="Web-{C66FE1DB-5861-4B66-8C45-B546E2B81D72}" dt="2025-04-14T10:07:55.951" v="56" actId="20577"/>
          <ac:spMkLst>
            <pc:docMk/>
            <pc:sldMk cId="3263429344" sldId="433"/>
            <ac:spMk id="5" creationId="{4B67EA04-7088-DCFA-4B92-57DEA3709213}"/>
          </ac:spMkLst>
        </pc:spChg>
      </pc:sldChg>
      <pc:sldChg chg="modSp">
        <pc:chgData name="Giuseppe Spillo" userId="S::giuseppe.spillo@uniba.it::50618fd6-17ec-45b1-8584-0df76127b568" providerId="AD" clId="Web-{C66FE1DB-5861-4B66-8C45-B546E2B81D72}" dt="2025-04-14T10:06:56.089" v="42" actId="20577"/>
        <pc:sldMkLst>
          <pc:docMk/>
          <pc:sldMk cId="2307646614" sldId="434"/>
        </pc:sldMkLst>
        <pc:spChg chg="mod">
          <ac:chgData name="Giuseppe Spillo" userId="S::giuseppe.spillo@uniba.it::50618fd6-17ec-45b1-8584-0df76127b568" providerId="AD" clId="Web-{C66FE1DB-5861-4B66-8C45-B546E2B81D72}" dt="2025-04-14T10:06:56.089" v="42" actId="20577"/>
          <ac:spMkLst>
            <pc:docMk/>
            <pc:sldMk cId="2307646614" sldId="434"/>
            <ac:spMk id="8" creationId="{C89C9DE4-8A1A-A15B-6E02-6DDEE54ABD24}"/>
          </ac:spMkLst>
        </pc:spChg>
      </pc:sldChg>
      <pc:sldChg chg="modSp">
        <pc:chgData name="Giuseppe Spillo" userId="S::giuseppe.spillo@uniba.it::50618fd6-17ec-45b1-8584-0df76127b568" providerId="AD" clId="Web-{C66FE1DB-5861-4B66-8C45-B546E2B81D72}" dt="2025-04-14T10:05:48.680" v="8" actId="20577"/>
        <pc:sldMkLst>
          <pc:docMk/>
          <pc:sldMk cId="2992098694" sldId="435"/>
        </pc:sldMkLst>
        <pc:spChg chg="mod">
          <ac:chgData name="Giuseppe Spillo" userId="S::giuseppe.spillo@uniba.it::50618fd6-17ec-45b1-8584-0df76127b568" providerId="AD" clId="Web-{C66FE1DB-5861-4B66-8C45-B546E2B81D72}" dt="2025-04-14T10:05:48.680" v="8" actId="20577"/>
          <ac:spMkLst>
            <pc:docMk/>
            <pc:sldMk cId="2992098694" sldId="435"/>
            <ac:spMk id="8" creationId="{FF1F3607-CAD1-C108-D2AE-099C0612CFD1}"/>
          </ac:spMkLst>
        </pc:spChg>
      </pc:sldChg>
      <pc:sldChg chg="modSp">
        <pc:chgData name="Giuseppe Spillo" userId="S::giuseppe.spillo@uniba.it::50618fd6-17ec-45b1-8584-0df76127b568" providerId="AD" clId="Web-{C66FE1DB-5861-4B66-8C45-B546E2B81D72}" dt="2025-04-14T10:09:59.409" v="112" actId="20577"/>
        <pc:sldMkLst>
          <pc:docMk/>
          <pc:sldMk cId="109713022" sldId="436"/>
        </pc:sldMkLst>
        <pc:spChg chg="mod">
          <ac:chgData name="Giuseppe Spillo" userId="S::giuseppe.spillo@uniba.it::50618fd6-17ec-45b1-8584-0df76127b568" providerId="AD" clId="Web-{C66FE1DB-5861-4B66-8C45-B546E2B81D72}" dt="2025-04-14T10:09:59.409" v="112" actId="20577"/>
          <ac:spMkLst>
            <pc:docMk/>
            <pc:sldMk cId="109713022" sldId="436"/>
            <ac:spMk id="5" creationId="{6FCBE8C7-D26E-4163-E242-52E83DAE54E0}"/>
          </ac:spMkLst>
        </pc:spChg>
      </pc:sldChg>
      <pc:sldChg chg="modSp">
        <pc:chgData name="Giuseppe Spillo" userId="S::giuseppe.spillo@uniba.it::50618fd6-17ec-45b1-8584-0df76127b568" providerId="AD" clId="Web-{C66FE1DB-5861-4B66-8C45-B546E2B81D72}" dt="2025-04-14T10:10:08.425" v="117" actId="20577"/>
        <pc:sldMkLst>
          <pc:docMk/>
          <pc:sldMk cId="3169070774" sldId="437"/>
        </pc:sldMkLst>
        <pc:spChg chg="mod">
          <ac:chgData name="Giuseppe Spillo" userId="S::giuseppe.spillo@uniba.it::50618fd6-17ec-45b1-8584-0df76127b568" providerId="AD" clId="Web-{C66FE1DB-5861-4B66-8C45-B546E2B81D72}" dt="2025-04-14T10:10:08.425" v="117" actId="20577"/>
          <ac:spMkLst>
            <pc:docMk/>
            <pc:sldMk cId="3169070774" sldId="437"/>
            <ac:spMk id="5" creationId="{9BF3F265-608F-2481-323F-87EA3E162170}"/>
          </ac:spMkLst>
        </pc:spChg>
      </pc:sldChg>
      <pc:sldChg chg="modSp">
        <pc:chgData name="Giuseppe Spillo" userId="S::giuseppe.spillo@uniba.it::50618fd6-17ec-45b1-8584-0df76127b568" providerId="AD" clId="Web-{C66FE1DB-5861-4B66-8C45-B546E2B81D72}" dt="2025-04-14T10:10:05.065" v="115" actId="20577"/>
        <pc:sldMkLst>
          <pc:docMk/>
          <pc:sldMk cId="2854928094" sldId="438"/>
        </pc:sldMkLst>
        <pc:spChg chg="mod">
          <ac:chgData name="Giuseppe Spillo" userId="S::giuseppe.spillo@uniba.it::50618fd6-17ec-45b1-8584-0df76127b568" providerId="AD" clId="Web-{C66FE1DB-5861-4B66-8C45-B546E2B81D72}" dt="2025-04-14T10:10:05.065" v="115" actId="20577"/>
          <ac:spMkLst>
            <pc:docMk/>
            <pc:sldMk cId="2854928094" sldId="438"/>
            <ac:spMk id="5" creationId="{F5B0F5C1-58CD-B34C-3EFD-D65694620E20}"/>
          </ac:spMkLst>
        </pc:spChg>
      </pc:sldChg>
      <pc:sldChg chg="modSp">
        <pc:chgData name="Giuseppe Spillo" userId="S::giuseppe.spillo@uniba.it::50618fd6-17ec-45b1-8584-0df76127b568" providerId="AD" clId="Web-{C66FE1DB-5861-4B66-8C45-B546E2B81D72}" dt="2025-04-14T10:10:19.363" v="129" actId="20577"/>
        <pc:sldMkLst>
          <pc:docMk/>
          <pc:sldMk cId="1257746360" sldId="439"/>
        </pc:sldMkLst>
        <pc:spChg chg="mod">
          <ac:chgData name="Giuseppe Spillo" userId="S::giuseppe.spillo@uniba.it::50618fd6-17ec-45b1-8584-0df76127b568" providerId="AD" clId="Web-{C66FE1DB-5861-4B66-8C45-B546E2B81D72}" dt="2025-04-14T10:10:19.363" v="129" actId="20577"/>
          <ac:spMkLst>
            <pc:docMk/>
            <pc:sldMk cId="1257746360" sldId="439"/>
            <ac:spMk id="5" creationId="{E7240DEF-1099-6C90-F632-F12085A20741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4C59C7B-EF95-4F5E-B7BF-A2C790A756B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DE946A9-9D87-4A61-9843-B61F92D37F18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0" i="0" baseline="0" dirty="0"/>
            <a:t>Le piattaforme e-commerce e i servizi di streaming offrono </a:t>
          </a:r>
          <a:r>
            <a:rPr lang="it-IT" b="1" i="0" baseline="0" dirty="0"/>
            <a:t>cataloghi vastissimi</a:t>
          </a:r>
          <a:r>
            <a:rPr lang="it-IT" b="0" i="0" baseline="0" dirty="0"/>
            <a:t> di prodotti e contenuti.</a:t>
          </a:r>
          <a:endParaRPr lang="en-US" dirty="0"/>
        </a:p>
      </dgm:t>
    </dgm:pt>
    <dgm:pt modelId="{5DBF3484-E92E-46A3-9752-536C439A5E01}" type="parTrans" cxnId="{65FB49B1-0929-4949-96C6-0CC13466169B}">
      <dgm:prSet/>
      <dgm:spPr/>
      <dgm:t>
        <a:bodyPr/>
        <a:lstStyle/>
        <a:p>
          <a:endParaRPr lang="en-US"/>
        </a:p>
      </dgm:t>
    </dgm:pt>
    <dgm:pt modelId="{9D232BFD-70F1-48A9-B522-8AC4F0ECF319}" type="sibTrans" cxnId="{65FB49B1-0929-4949-96C6-0CC13466169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116BFC6-AB4D-40E2-95BF-AC80181B89AE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0" i="0" baseline="0"/>
            <a:t>Gli utenti sono esposti a una </a:t>
          </a:r>
          <a:r>
            <a:rPr lang="it-IT" b="1" i="0" baseline="0"/>
            <a:t>quantità enorme di informazioni</a:t>
          </a:r>
          <a:r>
            <a:rPr lang="it-IT" b="0" i="0" baseline="0"/>
            <a:t>.</a:t>
          </a:r>
          <a:endParaRPr lang="en-US"/>
        </a:p>
      </dgm:t>
    </dgm:pt>
    <dgm:pt modelId="{954328E7-29F1-462E-9BDE-B259AD2C3760}" type="parTrans" cxnId="{823BCFD8-9536-4AD9-8521-16D8033E98B2}">
      <dgm:prSet/>
      <dgm:spPr/>
      <dgm:t>
        <a:bodyPr/>
        <a:lstStyle/>
        <a:p>
          <a:endParaRPr lang="en-US"/>
        </a:p>
      </dgm:t>
    </dgm:pt>
    <dgm:pt modelId="{4D005A96-ACDF-43AC-8E25-4DF95B751944}" type="sibTrans" cxnId="{823BCFD8-9536-4AD9-8521-16D8033E98B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8C273AA-4742-4EA9-8C43-FC155D391000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0" i="0" baseline="0"/>
            <a:t>Fenomeno dell’</a:t>
          </a:r>
          <a:r>
            <a:rPr lang="it-IT" b="1" i="0" baseline="0"/>
            <a:t>Information Overload</a:t>
          </a:r>
          <a:r>
            <a:rPr lang="it-IT" b="0" i="0" baseline="0"/>
            <a:t>:</a:t>
          </a:r>
          <a:br>
            <a:rPr lang="it-IT" b="0" i="0" baseline="0"/>
          </a:br>
          <a:r>
            <a:rPr lang="it-IT" b="0" i="0" baseline="0"/>
            <a:t>difficoltà nel </a:t>
          </a:r>
          <a:r>
            <a:rPr lang="it-IT" b="1" i="0" baseline="0"/>
            <a:t>scegliere</a:t>
          </a:r>
          <a:r>
            <a:rPr lang="it-IT" b="0" i="0" baseline="0"/>
            <a:t>, </a:t>
          </a:r>
          <a:r>
            <a:rPr lang="it-IT" b="1" i="0" baseline="0"/>
            <a:t>filtrare</a:t>
          </a:r>
          <a:r>
            <a:rPr lang="it-IT" b="0" i="0" baseline="0"/>
            <a:t> e </a:t>
          </a:r>
          <a:r>
            <a:rPr lang="it-IT" b="1" i="0" baseline="0"/>
            <a:t>trovare</a:t>
          </a:r>
          <a:r>
            <a:rPr lang="it-IT" b="0" i="0" baseline="0"/>
            <a:t> ciò che è davvero rilevante.</a:t>
          </a:r>
          <a:endParaRPr lang="en-US" dirty="0"/>
        </a:p>
      </dgm:t>
    </dgm:pt>
    <dgm:pt modelId="{51BD435D-5171-44C1-87F1-1C118301960C}" type="parTrans" cxnId="{03E74C58-11A1-4A84-A21A-2A43994538D7}">
      <dgm:prSet/>
      <dgm:spPr/>
      <dgm:t>
        <a:bodyPr/>
        <a:lstStyle/>
        <a:p>
          <a:endParaRPr lang="en-US"/>
        </a:p>
      </dgm:t>
    </dgm:pt>
    <dgm:pt modelId="{606739F0-9DB9-4F94-86E4-B5516104AAAB}" type="sibTrans" cxnId="{03E74C58-11A1-4A84-A21A-2A43994538D7}">
      <dgm:prSet/>
      <dgm:spPr/>
      <dgm:t>
        <a:bodyPr/>
        <a:lstStyle/>
        <a:p>
          <a:endParaRPr lang="en-US"/>
        </a:p>
      </dgm:t>
    </dgm:pt>
    <dgm:pt modelId="{15CC8805-CFB8-4A45-811B-3C1E81186426}" type="pres">
      <dgm:prSet presAssocID="{F4C59C7B-EF95-4F5E-B7BF-A2C790A756BF}" presName="root" presStyleCnt="0">
        <dgm:presLayoutVars>
          <dgm:dir/>
          <dgm:resizeHandles val="exact"/>
        </dgm:presLayoutVars>
      </dgm:prSet>
      <dgm:spPr/>
    </dgm:pt>
    <dgm:pt modelId="{5313C7FC-C174-4CA3-9FBE-1A43001ACFBD}" type="pres">
      <dgm:prSet presAssocID="{9DE946A9-9D87-4A61-9843-B61F92D37F18}" presName="compNode" presStyleCnt="0"/>
      <dgm:spPr/>
    </dgm:pt>
    <dgm:pt modelId="{9F9EFECF-BEF2-4EAA-9192-82EF8C374FCC}" type="pres">
      <dgm:prSet presAssocID="{9DE946A9-9D87-4A61-9843-B61F92D37F18}" presName="bgRect" presStyleLbl="bgShp" presStyleIdx="0" presStyleCnt="3"/>
      <dgm:spPr/>
    </dgm:pt>
    <dgm:pt modelId="{F228FB3E-C3C4-4B45-A174-6720773E30CE}" type="pres">
      <dgm:prSet presAssocID="{9DE946A9-9D87-4A61-9843-B61F92D37F1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228DFD42-380C-473B-92D0-09EF4F7AF6AF}" type="pres">
      <dgm:prSet presAssocID="{9DE946A9-9D87-4A61-9843-B61F92D37F18}" presName="spaceRect" presStyleCnt="0"/>
      <dgm:spPr/>
    </dgm:pt>
    <dgm:pt modelId="{E961604A-ABA4-457A-B1CD-436F17A5DF19}" type="pres">
      <dgm:prSet presAssocID="{9DE946A9-9D87-4A61-9843-B61F92D37F18}" presName="parTx" presStyleLbl="revTx" presStyleIdx="0" presStyleCnt="3">
        <dgm:presLayoutVars>
          <dgm:chMax val="0"/>
          <dgm:chPref val="0"/>
        </dgm:presLayoutVars>
      </dgm:prSet>
      <dgm:spPr/>
    </dgm:pt>
    <dgm:pt modelId="{71ACC02B-65D7-4CD7-A427-C632B62AB849}" type="pres">
      <dgm:prSet presAssocID="{9D232BFD-70F1-48A9-B522-8AC4F0ECF319}" presName="sibTrans" presStyleCnt="0"/>
      <dgm:spPr/>
    </dgm:pt>
    <dgm:pt modelId="{B7C8BE88-8A55-4E20-B4DF-E16510E5A651}" type="pres">
      <dgm:prSet presAssocID="{5116BFC6-AB4D-40E2-95BF-AC80181B89AE}" presName="compNode" presStyleCnt="0"/>
      <dgm:spPr/>
    </dgm:pt>
    <dgm:pt modelId="{14610FE8-D0E1-4702-A9FD-5E0AAAEE22CC}" type="pres">
      <dgm:prSet presAssocID="{5116BFC6-AB4D-40E2-95BF-AC80181B89AE}" presName="bgRect" presStyleLbl="bgShp" presStyleIdx="1" presStyleCnt="3"/>
      <dgm:spPr/>
    </dgm:pt>
    <dgm:pt modelId="{2A14196B-A636-4E12-ADF8-D15338B707A7}" type="pres">
      <dgm:prSet presAssocID="{5116BFC6-AB4D-40E2-95BF-AC80181B89A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F4492158-D783-4E1C-A0ED-5522B95FAB99}" type="pres">
      <dgm:prSet presAssocID="{5116BFC6-AB4D-40E2-95BF-AC80181B89AE}" presName="spaceRect" presStyleCnt="0"/>
      <dgm:spPr/>
    </dgm:pt>
    <dgm:pt modelId="{07B13222-D9F5-43F4-A65A-B7D46626B3DC}" type="pres">
      <dgm:prSet presAssocID="{5116BFC6-AB4D-40E2-95BF-AC80181B89AE}" presName="parTx" presStyleLbl="revTx" presStyleIdx="1" presStyleCnt="3">
        <dgm:presLayoutVars>
          <dgm:chMax val="0"/>
          <dgm:chPref val="0"/>
        </dgm:presLayoutVars>
      </dgm:prSet>
      <dgm:spPr/>
    </dgm:pt>
    <dgm:pt modelId="{4C6E9F32-D1DD-470B-8F48-C2EAE29FA61F}" type="pres">
      <dgm:prSet presAssocID="{4D005A96-ACDF-43AC-8E25-4DF95B751944}" presName="sibTrans" presStyleCnt="0"/>
      <dgm:spPr/>
    </dgm:pt>
    <dgm:pt modelId="{D25EB3D8-BCB5-43A6-A15F-5241500169F9}" type="pres">
      <dgm:prSet presAssocID="{B8C273AA-4742-4EA9-8C43-FC155D391000}" presName="compNode" presStyleCnt="0"/>
      <dgm:spPr/>
    </dgm:pt>
    <dgm:pt modelId="{3DBAFDC8-8A8A-4F26-95AE-AADE9D8BB1EE}" type="pres">
      <dgm:prSet presAssocID="{B8C273AA-4742-4EA9-8C43-FC155D391000}" presName="bgRect" presStyleLbl="bgShp" presStyleIdx="2" presStyleCnt="3"/>
      <dgm:spPr/>
    </dgm:pt>
    <dgm:pt modelId="{B89327C4-CD9B-478B-B107-059AD6C9C8D3}" type="pres">
      <dgm:prSet presAssocID="{B8C273AA-4742-4EA9-8C43-FC155D39100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ro"/>
        </a:ext>
      </dgm:extLst>
    </dgm:pt>
    <dgm:pt modelId="{9A445975-5724-47B5-A94D-450199D22A71}" type="pres">
      <dgm:prSet presAssocID="{B8C273AA-4742-4EA9-8C43-FC155D391000}" presName="spaceRect" presStyleCnt="0"/>
      <dgm:spPr/>
    </dgm:pt>
    <dgm:pt modelId="{EA1D295E-9626-4B15-A1F0-0256319FC27A}" type="pres">
      <dgm:prSet presAssocID="{B8C273AA-4742-4EA9-8C43-FC155D39100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8DDC769-E8C3-419E-B994-3B5078E484BA}" type="presOf" srcId="{B8C273AA-4742-4EA9-8C43-FC155D391000}" destId="{EA1D295E-9626-4B15-A1F0-0256319FC27A}" srcOrd="0" destOrd="0" presId="urn:microsoft.com/office/officeart/2018/2/layout/IconVerticalSolidList"/>
    <dgm:cxn modelId="{03E74C58-11A1-4A84-A21A-2A43994538D7}" srcId="{F4C59C7B-EF95-4F5E-B7BF-A2C790A756BF}" destId="{B8C273AA-4742-4EA9-8C43-FC155D391000}" srcOrd="2" destOrd="0" parTransId="{51BD435D-5171-44C1-87F1-1C118301960C}" sibTransId="{606739F0-9DB9-4F94-86E4-B5516104AAAB}"/>
    <dgm:cxn modelId="{77C8E291-354F-47F5-B609-FFBA6A985922}" type="presOf" srcId="{F4C59C7B-EF95-4F5E-B7BF-A2C790A756BF}" destId="{15CC8805-CFB8-4A45-811B-3C1E81186426}" srcOrd="0" destOrd="0" presId="urn:microsoft.com/office/officeart/2018/2/layout/IconVerticalSolidList"/>
    <dgm:cxn modelId="{65FB49B1-0929-4949-96C6-0CC13466169B}" srcId="{F4C59C7B-EF95-4F5E-B7BF-A2C790A756BF}" destId="{9DE946A9-9D87-4A61-9843-B61F92D37F18}" srcOrd="0" destOrd="0" parTransId="{5DBF3484-E92E-46A3-9752-536C439A5E01}" sibTransId="{9D232BFD-70F1-48A9-B522-8AC4F0ECF319}"/>
    <dgm:cxn modelId="{F50D21CF-6B44-4B29-9224-83D53CAC53E4}" type="presOf" srcId="{9DE946A9-9D87-4A61-9843-B61F92D37F18}" destId="{E961604A-ABA4-457A-B1CD-436F17A5DF19}" srcOrd="0" destOrd="0" presId="urn:microsoft.com/office/officeart/2018/2/layout/IconVerticalSolidList"/>
    <dgm:cxn modelId="{823BCFD8-9536-4AD9-8521-16D8033E98B2}" srcId="{F4C59C7B-EF95-4F5E-B7BF-A2C790A756BF}" destId="{5116BFC6-AB4D-40E2-95BF-AC80181B89AE}" srcOrd="1" destOrd="0" parTransId="{954328E7-29F1-462E-9BDE-B259AD2C3760}" sibTransId="{4D005A96-ACDF-43AC-8E25-4DF95B751944}"/>
    <dgm:cxn modelId="{994154F2-AD95-49FF-A1FB-CDAE43F5BFF2}" type="presOf" srcId="{5116BFC6-AB4D-40E2-95BF-AC80181B89AE}" destId="{07B13222-D9F5-43F4-A65A-B7D46626B3DC}" srcOrd="0" destOrd="0" presId="urn:microsoft.com/office/officeart/2018/2/layout/IconVerticalSolidList"/>
    <dgm:cxn modelId="{E1FE5C79-06EA-4C92-AC20-8EF4707E30A2}" type="presParOf" srcId="{15CC8805-CFB8-4A45-811B-3C1E81186426}" destId="{5313C7FC-C174-4CA3-9FBE-1A43001ACFBD}" srcOrd="0" destOrd="0" presId="urn:microsoft.com/office/officeart/2018/2/layout/IconVerticalSolidList"/>
    <dgm:cxn modelId="{12F28A0D-CEDC-43F1-B95F-322981EF506E}" type="presParOf" srcId="{5313C7FC-C174-4CA3-9FBE-1A43001ACFBD}" destId="{9F9EFECF-BEF2-4EAA-9192-82EF8C374FCC}" srcOrd="0" destOrd="0" presId="urn:microsoft.com/office/officeart/2018/2/layout/IconVerticalSolidList"/>
    <dgm:cxn modelId="{BC53CE2F-ADA0-414B-B108-EA9EF8C6B558}" type="presParOf" srcId="{5313C7FC-C174-4CA3-9FBE-1A43001ACFBD}" destId="{F228FB3E-C3C4-4B45-A174-6720773E30CE}" srcOrd="1" destOrd="0" presId="urn:microsoft.com/office/officeart/2018/2/layout/IconVerticalSolidList"/>
    <dgm:cxn modelId="{A6F22B5D-9526-431C-9111-2B646A35386D}" type="presParOf" srcId="{5313C7FC-C174-4CA3-9FBE-1A43001ACFBD}" destId="{228DFD42-380C-473B-92D0-09EF4F7AF6AF}" srcOrd="2" destOrd="0" presId="urn:microsoft.com/office/officeart/2018/2/layout/IconVerticalSolidList"/>
    <dgm:cxn modelId="{F4755E73-C775-4CB5-AC77-33A7AADA77B0}" type="presParOf" srcId="{5313C7FC-C174-4CA3-9FBE-1A43001ACFBD}" destId="{E961604A-ABA4-457A-B1CD-436F17A5DF19}" srcOrd="3" destOrd="0" presId="urn:microsoft.com/office/officeart/2018/2/layout/IconVerticalSolidList"/>
    <dgm:cxn modelId="{6DBF6CC5-87EA-47EB-9E36-16FFAA73C72A}" type="presParOf" srcId="{15CC8805-CFB8-4A45-811B-3C1E81186426}" destId="{71ACC02B-65D7-4CD7-A427-C632B62AB849}" srcOrd="1" destOrd="0" presId="urn:microsoft.com/office/officeart/2018/2/layout/IconVerticalSolidList"/>
    <dgm:cxn modelId="{9DE23E98-EB3B-4912-BBA7-8ECAC6843739}" type="presParOf" srcId="{15CC8805-CFB8-4A45-811B-3C1E81186426}" destId="{B7C8BE88-8A55-4E20-B4DF-E16510E5A651}" srcOrd="2" destOrd="0" presId="urn:microsoft.com/office/officeart/2018/2/layout/IconVerticalSolidList"/>
    <dgm:cxn modelId="{EA4263AA-4111-478B-B6D1-D2FCD720A7B2}" type="presParOf" srcId="{B7C8BE88-8A55-4E20-B4DF-E16510E5A651}" destId="{14610FE8-D0E1-4702-A9FD-5E0AAAEE22CC}" srcOrd="0" destOrd="0" presId="urn:microsoft.com/office/officeart/2018/2/layout/IconVerticalSolidList"/>
    <dgm:cxn modelId="{A297853B-B24D-469B-B62D-77674DB157C1}" type="presParOf" srcId="{B7C8BE88-8A55-4E20-B4DF-E16510E5A651}" destId="{2A14196B-A636-4E12-ADF8-D15338B707A7}" srcOrd="1" destOrd="0" presId="urn:microsoft.com/office/officeart/2018/2/layout/IconVerticalSolidList"/>
    <dgm:cxn modelId="{3758EEB2-2A61-458C-AC72-032543948226}" type="presParOf" srcId="{B7C8BE88-8A55-4E20-B4DF-E16510E5A651}" destId="{F4492158-D783-4E1C-A0ED-5522B95FAB99}" srcOrd="2" destOrd="0" presId="urn:microsoft.com/office/officeart/2018/2/layout/IconVerticalSolidList"/>
    <dgm:cxn modelId="{5AF46923-8FCE-4859-BBFB-193E90DFAB3C}" type="presParOf" srcId="{B7C8BE88-8A55-4E20-B4DF-E16510E5A651}" destId="{07B13222-D9F5-43F4-A65A-B7D46626B3DC}" srcOrd="3" destOrd="0" presId="urn:microsoft.com/office/officeart/2018/2/layout/IconVerticalSolidList"/>
    <dgm:cxn modelId="{AF9B4C2A-632B-408F-86E2-0DCBEC264787}" type="presParOf" srcId="{15CC8805-CFB8-4A45-811B-3C1E81186426}" destId="{4C6E9F32-D1DD-470B-8F48-C2EAE29FA61F}" srcOrd="3" destOrd="0" presId="urn:microsoft.com/office/officeart/2018/2/layout/IconVerticalSolidList"/>
    <dgm:cxn modelId="{D158EE94-7D23-400D-BE61-9B1F8D4F6745}" type="presParOf" srcId="{15CC8805-CFB8-4A45-811B-3C1E81186426}" destId="{D25EB3D8-BCB5-43A6-A15F-5241500169F9}" srcOrd="4" destOrd="0" presId="urn:microsoft.com/office/officeart/2018/2/layout/IconVerticalSolidList"/>
    <dgm:cxn modelId="{C388DAFE-F42C-4ABA-9B12-511BEB021004}" type="presParOf" srcId="{D25EB3D8-BCB5-43A6-A15F-5241500169F9}" destId="{3DBAFDC8-8A8A-4F26-95AE-AADE9D8BB1EE}" srcOrd="0" destOrd="0" presId="urn:microsoft.com/office/officeart/2018/2/layout/IconVerticalSolidList"/>
    <dgm:cxn modelId="{AC81E85D-B7BB-4C3B-B83E-12A06AC86A90}" type="presParOf" srcId="{D25EB3D8-BCB5-43A6-A15F-5241500169F9}" destId="{B89327C4-CD9B-478B-B107-059AD6C9C8D3}" srcOrd="1" destOrd="0" presId="urn:microsoft.com/office/officeart/2018/2/layout/IconVerticalSolidList"/>
    <dgm:cxn modelId="{A3A2FC97-3EB5-4F57-88BC-4A7D61493EFC}" type="presParOf" srcId="{D25EB3D8-BCB5-43A6-A15F-5241500169F9}" destId="{9A445975-5724-47B5-A94D-450199D22A71}" srcOrd="2" destOrd="0" presId="urn:microsoft.com/office/officeart/2018/2/layout/IconVerticalSolidList"/>
    <dgm:cxn modelId="{E7FA160E-4AD7-4FF1-A72B-C46EC1437EDA}" type="presParOf" srcId="{D25EB3D8-BCB5-43A6-A15F-5241500169F9}" destId="{EA1D295E-9626-4B15-A1F0-0256319FC27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EB2E913-81D9-40BA-B576-1A516A26F4D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BDF8895C-EF1C-4999-8CC3-A0BC58EC5586}">
      <dgm:prSet/>
      <dgm:spPr/>
      <dgm:t>
        <a:bodyPr/>
        <a:lstStyle/>
        <a:p>
          <a:pPr algn="just">
            <a:lnSpc>
              <a:spcPct val="100000"/>
            </a:lnSpc>
          </a:pPr>
          <a:r>
            <a:rPr lang="en-US" b="1" dirty="0"/>
            <a:t>ESIGENZA</a:t>
          </a:r>
          <a:r>
            <a:rPr lang="en-US" dirty="0"/>
            <a:t>: Un </a:t>
          </a:r>
          <a:r>
            <a:rPr lang="en-US" dirty="0" err="1"/>
            <a:t>buon</a:t>
          </a:r>
          <a:r>
            <a:rPr lang="en-US" dirty="0"/>
            <a:t> </a:t>
          </a:r>
          <a:r>
            <a:rPr lang="en-US" dirty="0" err="1"/>
            <a:t>sistema</a:t>
          </a:r>
          <a:r>
            <a:rPr lang="en-US" dirty="0"/>
            <a:t> di </a:t>
          </a:r>
          <a:r>
            <a:rPr lang="en-US" dirty="0" err="1"/>
            <a:t>raccomandazione</a:t>
          </a:r>
          <a:r>
            <a:rPr lang="en-US" dirty="0"/>
            <a:t> </a:t>
          </a:r>
          <a:r>
            <a:rPr lang="en-US" dirty="0" err="1"/>
            <a:t>parte</a:t>
          </a:r>
          <a:r>
            <a:rPr lang="en-US" dirty="0"/>
            <a:t> </a:t>
          </a:r>
          <a:r>
            <a:rPr lang="en-US" dirty="0" err="1"/>
            <a:t>dalla</a:t>
          </a:r>
          <a:r>
            <a:rPr lang="en-US" dirty="0"/>
            <a:t> </a:t>
          </a:r>
          <a:r>
            <a:rPr lang="en-US" dirty="0" err="1"/>
            <a:t>capacità</a:t>
          </a:r>
          <a:r>
            <a:rPr lang="en-US" dirty="0"/>
            <a:t> di </a:t>
          </a:r>
          <a:r>
            <a:rPr lang="en-US" dirty="0" err="1"/>
            <a:t>rappresentare</a:t>
          </a:r>
          <a:r>
            <a:rPr lang="en-US" dirty="0"/>
            <a:t> in modo </a:t>
          </a:r>
          <a:r>
            <a:rPr lang="en-US" dirty="0" err="1"/>
            <a:t>efficace</a:t>
          </a:r>
          <a:r>
            <a:rPr lang="en-US" dirty="0"/>
            <a:t> </a:t>
          </a:r>
          <a:r>
            <a:rPr lang="en-US" dirty="0" err="1"/>
            <a:t>gli</a:t>
          </a:r>
          <a:r>
            <a:rPr lang="en-US" dirty="0"/>
            <a:t> </a:t>
          </a:r>
          <a:r>
            <a:rPr lang="en-US" b="1" dirty="0" err="1"/>
            <a:t>oggetti</a:t>
          </a:r>
          <a:r>
            <a:rPr lang="en-US" dirty="0"/>
            <a:t>.</a:t>
          </a:r>
        </a:p>
      </dgm:t>
    </dgm:pt>
    <dgm:pt modelId="{3FC026B0-E057-4057-8945-7508880CD772}" type="parTrans" cxnId="{B98E19C1-DCEB-4202-8029-A592D871F120}">
      <dgm:prSet/>
      <dgm:spPr/>
      <dgm:t>
        <a:bodyPr/>
        <a:lstStyle/>
        <a:p>
          <a:endParaRPr lang="en-US"/>
        </a:p>
      </dgm:t>
    </dgm:pt>
    <dgm:pt modelId="{000A0CFC-3997-43EA-BB18-FD87E9AB5CD5}" type="sibTrans" cxnId="{B98E19C1-DCEB-4202-8029-A592D871F120}">
      <dgm:prSet/>
      <dgm:spPr/>
      <dgm:t>
        <a:bodyPr/>
        <a:lstStyle/>
        <a:p>
          <a:endParaRPr lang="en-US"/>
        </a:p>
      </dgm:t>
    </dgm:pt>
    <dgm:pt modelId="{736A0EB7-B1CC-41F4-BB6C-284EA9D4C3EA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2400" b="1" dirty="0"/>
            <a:t>COME?</a:t>
          </a:r>
          <a:r>
            <a:rPr lang="en-US" sz="2400" dirty="0"/>
            <a:t>: Un </a:t>
          </a:r>
          <a:r>
            <a:rPr lang="en-US" sz="2400" dirty="0" err="1"/>
            <a:t>oggetto</a:t>
          </a:r>
          <a:r>
            <a:rPr lang="en-US" sz="2400" dirty="0"/>
            <a:t> </a:t>
          </a:r>
          <a:r>
            <a:rPr lang="en-US" sz="2400" dirty="0" err="1"/>
            <a:t>può</a:t>
          </a:r>
          <a:r>
            <a:rPr lang="en-US" sz="2400" dirty="0"/>
            <a:t> </a:t>
          </a:r>
          <a:r>
            <a:rPr lang="en-US" sz="2400" dirty="0" err="1"/>
            <a:t>essere</a:t>
          </a:r>
          <a:r>
            <a:rPr lang="en-US" sz="2400" dirty="0"/>
            <a:t> </a:t>
          </a:r>
          <a:r>
            <a:rPr lang="en-US" sz="2400" dirty="0" err="1"/>
            <a:t>rappresentato</a:t>
          </a:r>
          <a:r>
            <a:rPr lang="en-US" sz="2400" dirty="0"/>
            <a:t> secondo </a:t>
          </a:r>
          <a:r>
            <a:rPr lang="en-US" sz="2400" b="1" dirty="0"/>
            <a:t>diverse </a:t>
          </a:r>
          <a:r>
            <a:rPr lang="en-US" sz="2400" b="1" dirty="0" err="1"/>
            <a:t>fonti</a:t>
          </a:r>
          <a:r>
            <a:rPr lang="en-US" sz="2400" b="1" dirty="0"/>
            <a:t> di </a:t>
          </a:r>
          <a:r>
            <a:rPr lang="en-US" sz="2400" b="1" dirty="0" err="1"/>
            <a:t>informazione</a:t>
          </a:r>
          <a:r>
            <a:rPr lang="en-US" sz="2400" dirty="0"/>
            <a:t>. </a:t>
          </a:r>
        </a:p>
      </dgm:t>
    </dgm:pt>
    <dgm:pt modelId="{820F651B-AB9E-4A4A-B545-172286569850}" type="parTrans" cxnId="{56A9E200-2C9E-445B-8E63-CBD4D1D5670B}">
      <dgm:prSet/>
      <dgm:spPr/>
      <dgm:t>
        <a:bodyPr/>
        <a:lstStyle/>
        <a:p>
          <a:endParaRPr lang="en-US"/>
        </a:p>
      </dgm:t>
    </dgm:pt>
    <dgm:pt modelId="{C037BF0D-1314-40C0-8DEF-B2359350EFE8}" type="sibTrans" cxnId="{56A9E200-2C9E-445B-8E63-CBD4D1D5670B}">
      <dgm:prSet/>
      <dgm:spPr/>
      <dgm:t>
        <a:bodyPr/>
        <a:lstStyle/>
        <a:p>
          <a:endParaRPr lang="en-US"/>
        </a:p>
      </dgm:t>
    </dgm:pt>
    <dgm:pt modelId="{22401CFC-DEEC-4379-83F8-97EA01BB2F84}" type="pres">
      <dgm:prSet presAssocID="{8EB2E913-81D9-40BA-B576-1A516A26F4DF}" presName="root" presStyleCnt="0">
        <dgm:presLayoutVars>
          <dgm:dir/>
          <dgm:resizeHandles val="exact"/>
        </dgm:presLayoutVars>
      </dgm:prSet>
      <dgm:spPr/>
    </dgm:pt>
    <dgm:pt modelId="{6456F337-6FC0-41AA-A447-CE5206290F34}" type="pres">
      <dgm:prSet presAssocID="{BDF8895C-EF1C-4999-8CC3-A0BC58EC5586}" presName="compNode" presStyleCnt="0"/>
      <dgm:spPr/>
    </dgm:pt>
    <dgm:pt modelId="{85AE184D-0F26-4D8B-B7C6-93D1ACE139AD}" type="pres">
      <dgm:prSet presAssocID="{BDF8895C-EF1C-4999-8CC3-A0BC58EC5586}" presName="bgRect" presStyleLbl="bgShp" presStyleIdx="0" presStyleCnt="2" custLinFactNeighborY="-4280"/>
      <dgm:spPr/>
    </dgm:pt>
    <dgm:pt modelId="{3F220E77-939E-4F2A-843A-3644FECB55A4}" type="pres">
      <dgm:prSet presAssocID="{BDF8895C-EF1C-4999-8CC3-A0BC58EC558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795248C-0FB0-4219-9B1E-FE2C0F0951C6}" type="pres">
      <dgm:prSet presAssocID="{BDF8895C-EF1C-4999-8CC3-A0BC58EC5586}" presName="spaceRect" presStyleCnt="0"/>
      <dgm:spPr/>
    </dgm:pt>
    <dgm:pt modelId="{324942F8-88FD-43AC-9E38-ED93F854FD98}" type="pres">
      <dgm:prSet presAssocID="{BDF8895C-EF1C-4999-8CC3-A0BC58EC5586}" presName="parTx" presStyleLbl="revTx" presStyleIdx="0" presStyleCnt="2">
        <dgm:presLayoutVars>
          <dgm:chMax val="0"/>
          <dgm:chPref val="0"/>
        </dgm:presLayoutVars>
      </dgm:prSet>
      <dgm:spPr/>
    </dgm:pt>
    <dgm:pt modelId="{6E6E9CD1-7C03-431A-A942-33EDC8004B55}" type="pres">
      <dgm:prSet presAssocID="{000A0CFC-3997-43EA-BB18-FD87E9AB5CD5}" presName="sibTrans" presStyleCnt="0"/>
      <dgm:spPr/>
    </dgm:pt>
    <dgm:pt modelId="{E996286D-3023-4887-83D6-1345DA70BE9D}" type="pres">
      <dgm:prSet presAssocID="{736A0EB7-B1CC-41F4-BB6C-284EA9D4C3EA}" presName="compNode" presStyleCnt="0"/>
      <dgm:spPr/>
    </dgm:pt>
    <dgm:pt modelId="{07F2E6FD-788B-4BDE-AB2C-CCDA66C23627}" type="pres">
      <dgm:prSet presAssocID="{736A0EB7-B1CC-41F4-BB6C-284EA9D4C3EA}" presName="bgRect" presStyleLbl="bgShp" presStyleIdx="1" presStyleCnt="2"/>
      <dgm:spPr/>
    </dgm:pt>
    <dgm:pt modelId="{A3AE9D1C-448E-47DF-8060-593986949D17}" type="pres">
      <dgm:prSet presAssocID="{736A0EB7-B1CC-41F4-BB6C-284EA9D4C3E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rgolette"/>
        </a:ext>
      </dgm:extLst>
    </dgm:pt>
    <dgm:pt modelId="{1CBB35A3-748B-460B-B2DC-AD22405BA4F4}" type="pres">
      <dgm:prSet presAssocID="{736A0EB7-B1CC-41F4-BB6C-284EA9D4C3EA}" presName="spaceRect" presStyleCnt="0"/>
      <dgm:spPr/>
    </dgm:pt>
    <dgm:pt modelId="{EC248C36-55DB-4152-8BBD-E8655DE8DE5A}" type="pres">
      <dgm:prSet presAssocID="{736A0EB7-B1CC-41F4-BB6C-284EA9D4C3EA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56A9E200-2C9E-445B-8E63-CBD4D1D5670B}" srcId="{8EB2E913-81D9-40BA-B576-1A516A26F4DF}" destId="{736A0EB7-B1CC-41F4-BB6C-284EA9D4C3EA}" srcOrd="1" destOrd="0" parTransId="{820F651B-AB9E-4A4A-B545-172286569850}" sibTransId="{C037BF0D-1314-40C0-8DEF-B2359350EFE8}"/>
    <dgm:cxn modelId="{DE83AC62-3D30-4EA5-AE48-BCBB6F40A25D}" type="presOf" srcId="{736A0EB7-B1CC-41F4-BB6C-284EA9D4C3EA}" destId="{EC248C36-55DB-4152-8BBD-E8655DE8DE5A}" srcOrd="0" destOrd="0" presId="urn:microsoft.com/office/officeart/2018/2/layout/IconVerticalSolidList"/>
    <dgm:cxn modelId="{F0DF36B5-1A75-40E6-B1B3-EC4D6AD8E0E9}" type="presOf" srcId="{BDF8895C-EF1C-4999-8CC3-A0BC58EC5586}" destId="{324942F8-88FD-43AC-9E38-ED93F854FD98}" srcOrd="0" destOrd="0" presId="urn:microsoft.com/office/officeart/2018/2/layout/IconVerticalSolidList"/>
    <dgm:cxn modelId="{B98E19C1-DCEB-4202-8029-A592D871F120}" srcId="{8EB2E913-81D9-40BA-B576-1A516A26F4DF}" destId="{BDF8895C-EF1C-4999-8CC3-A0BC58EC5586}" srcOrd="0" destOrd="0" parTransId="{3FC026B0-E057-4057-8945-7508880CD772}" sibTransId="{000A0CFC-3997-43EA-BB18-FD87E9AB5CD5}"/>
    <dgm:cxn modelId="{4AD00CD3-68B4-4B56-8D5C-53215141ECBF}" type="presOf" srcId="{8EB2E913-81D9-40BA-B576-1A516A26F4DF}" destId="{22401CFC-DEEC-4379-83F8-97EA01BB2F84}" srcOrd="0" destOrd="0" presId="urn:microsoft.com/office/officeart/2018/2/layout/IconVerticalSolidList"/>
    <dgm:cxn modelId="{ACF69BB1-3D66-44E6-B165-207042DB6066}" type="presParOf" srcId="{22401CFC-DEEC-4379-83F8-97EA01BB2F84}" destId="{6456F337-6FC0-41AA-A447-CE5206290F34}" srcOrd="0" destOrd="0" presId="urn:microsoft.com/office/officeart/2018/2/layout/IconVerticalSolidList"/>
    <dgm:cxn modelId="{FE86561E-C654-49B5-8544-312AF9B72E0D}" type="presParOf" srcId="{6456F337-6FC0-41AA-A447-CE5206290F34}" destId="{85AE184D-0F26-4D8B-B7C6-93D1ACE139AD}" srcOrd="0" destOrd="0" presId="urn:microsoft.com/office/officeart/2018/2/layout/IconVerticalSolidList"/>
    <dgm:cxn modelId="{2A56F60B-FB18-4058-89AF-2C5F42F44C40}" type="presParOf" srcId="{6456F337-6FC0-41AA-A447-CE5206290F34}" destId="{3F220E77-939E-4F2A-843A-3644FECB55A4}" srcOrd="1" destOrd="0" presId="urn:microsoft.com/office/officeart/2018/2/layout/IconVerticalSolidList"/>
    <dgm:cxn modelId="{40AFBF80-3E65-4B48-B654-1C502A0745E0}" type="presParOf" srcId="{6456F337-6FC0-41AA-A447-CE5206290F34}" destId="{0795248C-0FB0-4219-9B1E-FE2C0F0951C6}" srcOrd="2" destOrd="0" presId="urn:microsoft.com/office/officeart/2018/2/layout/IconVerticalSolidList"/>
    <dgm:cxn modelId="{8AC7A7AF-96E3-4984-A70C-FABAB19E7092}" type="presParOf" srcId="{6456F337-6FC0-41AA-A447-CE5206290F34}" destId="{324942F8-88FD-43AC-9E38-ED93F854FD98}" srcOrd="3" destOrd="0" presId="urn:microsoft.com/office/officeart/2018/2/layout/IconVerticalSolidList"/>
    <dgm:cxn modelId="{DCA7F159-C3ED-4718-9133-9A7223E15AFD}" type="presParOf" srcId="{22401CFC-DEEC-4379-83F8-97EA01BB2F84}" destId="{6E6E9CD1-7C03-431A-A942-33EDC8004B55}" srcOrd="1" destOrd="0" presId="urn:microsoft.com/office/officeart/2018/2/layout/IconVerticalSolidList"/>
    <dgm:cxn modelId="{C1F53D99-D018-4950-AFE4-41771142C229}" type="presParOf" srcId="{22401CFC-DEEC-4379-83F8-97EA01BB2F84}" destId="{E996286D-3023-4887-83D6-1345DA70BE9D}" srcOrd="2" destOrd="0" presId="urn:microsoft.com/office/officeart/2018/2/layout/IconVerticalSolidList"/>
    <dgm:cxn modelId="{70F2433D-7428-477A-A6C0-C61F53ABB971}" type="presParOf" srcId="{E996286D-3023-4887-83D6-1345DA70BE9D}" destId="{07F2E6FD-788B-4BDE-AB2C-CCDA66C23627}" srcOrd="0" destOrd="0" presId="urn:microsoft.com/office/officeart/2018/2/layout/IconVerticalSolidList"/>
    <dgm:cxn modelId="{4DF31EDD-2EF6-4118-A88E-985EB9EE2892}" type="presParOf" srcId="{E996286D-3023-4887-83D6-1345DA70BE9D}" destId="{A3AE9D1C-448E-47DF-8060-593986949D17}" srcOrd="1" destOrd="0" presId="urn:microsoft.com/office/officeart/2018/2/layout/IconVerticalSolidList"/>
    <dgm:cxn modelId="{CEC5C598-E3B5-4FCD-BABE-8D198EED43ED}" type="presParOf" srcId="{E996286D-3023-4887-83D6-1345DA70BE9D}" destId="{1CBB35A3-748B-460B-B2DC-AD22405BA4F4}" srcOrd="2" destOrd="0" presId="urn:microsoft.com/office/officeart/2018/2/layout/IconVerticalSolidList"/>
    <dgm:cxn modelId="{043DBD01-3104-457C-8093-A0A3112CB40A}" type="presParOf" srcId="{E996286D-3023-4887-83D6-1345DA70BE9D}" destId="{EC248C36-55DB-4152-8BBD-E8655DE8DE5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BE4A86B-1C83-4C3A-B798-6CB6BAF5B37C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65EE7A4-4DCC-4B2C-8DD5-783AA19597AE}">
      <dgm:prSet/>
      <dgm:spPr>
        <a:solidFill>
          <a:schemeClr val="accent2"/>
        </a:solidFill>
      </dgm:spPr>
      <dgm:t>
        <a:bodyPr/>
        <a:lstStyle/>
        <a:p>
          <a:r>
            <a:rPr lang="it-IT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Per ogni tecnica: confronto a due a due tra ciascun film del campione e il resto del dataset.</a:t>
          </a:r>
          <a:endParaRPr lang="en-US" b="0" cap="none" spc="0" dirty="0">
            <a:ln w="0"/>
            <a:solidFill>
              <a:schemeClr val="accent1"/>
            </a:solidFill>
            <a:effectLst>
              <a:outerShdw blurRad="38100" dist="25400" dir="5400000" algn="ctr" rotWithShape="0">
                <a:srgbClr val="6E747A">
                  <a:alpha val="43000"/>
                </a:srgbClr>
              </a:outerShdw>
            </a:effectLst>
          </a:endParaRPr>
        </a:p>
      </dgm:t>
    </dgm:pt>
    <dgm:pt modelId="{C15C6A70-0CBA-4BE0-A7E5-67E15A82A8A0}" type="parTrans" cxnId="{CDFF4892-B8E2-4C9D-BC78-984338D24933}">
      <dgm:prSet/>
      <dgm:spPr/>
      <dgm:t>
        <a:bodyPr/>
        <a:lstStyle/>
        <a:p>
          <a:endParaRPr lang="en-US"/>
        </a:p>
      </dgm:t>
    </dgm:pt>
    <dgm:pt modelId="{0F11DD9A-2533-4C4E-85EE-1DFD4F4222D4}" type="sibTrans" cxnId="{CDFF4892-B8E2-4C9D-BC78-984338D24933}">
      <dgm:prSet/>
      <dgm:spPr/>
      <dgm:t>
        <a:bodyPr/>
        <a:lstStyle/>
        <a:p>
          <a:endParaRPr lang="en-US"/>
        </a:p>
      </dgm:t>
    </dgm:pt>
    <dgm:pt modelId="{EF18653E-C33C-4D27-80EA-3CA78A7B3CC6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it-IT" dirty="0"/>
            <a:t>Utilizzo della similarità del coseno per il confronto</a:t>
          </a:r>
          <a:endParaRPr lang="en-US" dirty="0"/>
        </a:p>
      </dgm:t>
    </dgm:pt>
    <dgm:pt modelId="{EEEEA413-D529-487F-82EA-D63F2658AF8F}" type="parTrans" cxnId="{7FA427EE-F336-413D-9771-6D89EA674C7F}">
      <dgm:prSet/>
      <dgm:spPr/>
      <dgm:t>
        <a:bodyPr/>
        <a:lstStyle/>
        <a:p>
          <a:endParaRPr lang="en-US"/>
        </a:p>
      </dgm:t>
    </dgm:pt>
    <dgm:pt modelId="{441AB8EC-9F47-4A5F-B1EB-F29469BE3697}" type="sibTrans" cxnId="{7FA427EE-F336-413D-9771-6D89EA674C7F}">
      <dgm:prSet/>
      <dgm:spPr/>
      <dgm:t>
        <a:bodyPr/>
        <a:lstStyle/>
        <a:p>
          <a:endParaRPr lang="en-US"/>
        </a:p>
      </dgm:t>
    </dgm:pt>
    <dgm:pt modelId="{E6FED0EB-0068-4A22-AFB2-F63B5C37EB04}">
      <dgm:prSet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it-IT"/>
            <a:t>Analisi limitata ai primi dieci risultati raccomandati</a:t>
          </a:r>
          <a:endParaRPr lang="en-US"/>
        </a:p>
      </dgm:t>
    </dgm:pt>
    <dgm:pt modelId="{539DA64B-176D-49FD-A2E8-8A979D8C4B54}" type="parTrans" cxnId="{382EB04C-8442-447F-988F-350B72288C9E}">
      <dgm:prSet/>
      <dgm:spPr/>
      <dgm:t>
        <a:bodyPr/>
        <a:lstStyle/>
        <a:p>
          <a:endParaRPr lang="en-US"/>
        </a:p>
      </dgm:t>
    </dgm:pt>
    <dgm:pt modelId="{417A38A6-A295-4D8A-B49A-A95955E0DADA}" type="sibTrans" cxnId="{382EB04C-8442-447F-988F-350B72288C9E}">
      <dgm:prSet/>
      <dgm:spPr/>
      <dgm:t>
        <a:bodyPr/>
        <a:lstStyle/>
        <a:p>
          <a:endParaRPr lang="en-US"/>
        </a:p>
      </dgm:t>
    </dgm:pt>
    <dgm:pt modelId="{5424901F-0631-4B07-B14B-5FEFBDCE1026}" type="pres">
      <dgm:prSet presAssocID="{ABE4A86B-1C83-4C3A-B798-6CB6BAF5B37C}" presName="outerComposite" presStyleCnt="0">
        <dgm:presLayoutVars>
          <dgm:chMax val="5"/>
          <dgm:dir/>
          <dgm:resizeHandles val="exact"/>
        </dgm:presLayoutVars>
      </dgm:prSet>
      <dgm:spPr/>
    </dgm:pt>
    <dgm:pt modelId="{1D289F4C-5482-406A-AE27-B0F28BBC30B2}" type="pres">
      <dgm:prSet presAssocID="{ABE4A86B-1C83-4C3A-B798-6CB6BAF5B37C}" presName="dummyMaxCanvas" presStyleCnt="0">
        <dgm:presLayoutVars/>
      </dgm:prSet>
      <dgm:spPr/>
    </dgm:pt>
    <dgm:pt modelId="{0756A2FC-48D6-46A4-B84E-A63F3F7D3EB6}" type="pres">
      <dgm:prSet presAssocID="{ABE4A86B-1C83-4C3A-B798-6CB6BAF5B37C}" presName="ThreeNodes_1" presStyleLbl="node1" presStyleIdx="0" presStyleCnt="3">
        <dgm:presLayoutVars>
          <dgm:bulletEnabled val="1"/>
        </dgm:presLayoutVars>
      </dgm:prSet>
      <dgm:spPr/>
    </dgm:pt>
    <dgm:pt modelId="{51B0A2CC-6540-42BC-85E4-4C3B03F038B1}" type="pres">
      <dgm:prSet presAssocID="{ABE4A86B-1C83-4C3A-B798-6CB6BAF5B37C}" presName="ThreeNodes_2" presStyleLbl="node1" presStyleIdx="1" presStyleCnt="3">
        <dgm:presLayoutVars>
          <dgm:bulletEnabled val="1"/>
        </dgm:presLayoutVars>
      </dgm:prSet>
      <dgm:spPr/>
    </dgm:pt>
    <dgm:pt modelId="{9849E1EE-5AF3-4831-A72E-129CF014F6D7}" type="pres">
      <dgm:prSet presAssocID="{ABE4A86B-1C83-4C3A-B798-6CB6BAF5B37C}" presName="ThreeNodes_3" presStyleLbl="node1" presStyleIdx="2" presStyleCnt="3">
        <dgm:presLayoutVars>
          <dgm:bulletEnabled val="1"/>
        </dgm:presLayoutVars>
      </dgm:prSet>
      <dgm:spPr/>
    </dgm:pt>
    <dgm:pt modelId="{0403C9FE-CD6A-4847-AA07-25FB50DC1A51}" type="pres">
      <dgm:prSet presAssocID="{ABE4A86B-1C83-4C3A-B798-6CB6BAF5B37C}" presName="ThreeConn_1-2" presStyleLbl="fgAccFollowNode1" presStyleIdx="0" presStyleCnt="2">
        <dgm:presLayoutVars>
          <dgm:bulletEnabled val="1"/>
        </dgm:presLayoutVars>
      </dgm:prSet>
      <dgm:spPr/>
    </dgm:pt>
    <dgm:pt modelId="{048C7416-1B57-453A-948F-34B87A8B409B}" type="pres">
      <dgm:prSet presAssocID="{ABE4A86B-1C83-4C3A-B798-6CB6BAF5B37C}" presName="ThreeConn_2-3" presStyleLbl="fgAccFollowNode1" presStyleIdx="1" presStyleCnt="2">
        <dgm:presLayoutVars>
          <dgm:bulletEnabled val="1"/>
        </dgm:presLayoutVars>
      </dgm:prSet>
      <dgm:spPr/>
    </dgm:pt>
    <dgm:pt modelId="{476704CB-B136-4001-B00F-690891D1FA7C}" type="pres">
      <dgm:prSet presAssocID="{ABE4A86B-1C83-4C3A-B798-6CB6BAF5B37C}" presName="ThreeNodes_1_text" presStyleLbl="node1" presStyleIdx="2" presStyleCnt="3">
        <dgm:presLayoutVars>
          <dgm:bulletEnabled val="1"/>
        </dgm:presLayoutVars>
      </dgm:prSet>
      <dgm:spPr/>
    </dgm:pt>
    <dgm:pt modelId="{5EC20CCC-B083-47D7-BBBB-3CD53BE36DD5}" type="pres">
      <dgm:prSet presAssocID="{ABE4A86B-1C83-4C3A-B798-6CB6BAF5B37C}" presName="ThreeNodes_2_text" presStyleLbl="node1" presStyleIdx="2" presStyleCnt="3">
        <dgm:presLayoutVars>
          <dgm:bulletEnabled val="1"/>
        </dgm:presLayoutVars>
      </dgm:prSet>
      <dgm:spPr/>
    </dgm:pt>
    <dgm:pt modelId="{841CD06A-2F7E-4964-9826-34B700FBD5E7}" type="pres">
      <dgm:prSet presAssocID="{ABE4A86B-1C83-4C3A-B798-6CB6BAF5B37C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24204D68-A153-4E22-BB51-FF7D80331D48}" type="presOf" srcId="{D65EE7A4-4DCC-4B2C-8DD5-783AA19597AE}" destId="{476704CB-B136-4001-B00F-690891D1FA7C}" srcOrd="1" destOrd="0" presId="urn:microsoft.com/office/officeart/2005/8/layout/vProcess5"/>
    <dgm:cxn modelId="{C803616C-B01F-4585-8D96-891C120D56F7}" type="presOf" srcId="{441AB8EC-9F47-4A5F-B1EB-F29469BE3697}" destId="{048C7416-1B57-453A-948F-34B87A8B409B}" srcOrd="0" destOrd="0" presId="urn:microsoft.com/office/officeart/2005/8/layout/vProcess5"/>
    <dgm:cxn modelId="{382EB04C-8442-447F-988F-350B72288C9E}" srcId="{ABE4A86B-1C83-4C3A-B798-6CB6BAF5B37C}" destId="{E6FED0EB-0068-4A22-AFB2-F63B5C37EB04}" srcOrd="2" destOrd="0" parTransId="{539DA64B-176D-49FD-A2E8-8A979D8C4B54}" sibTransId="{417A38A6-A295-4D8A-B49A-A95955E0DADA}"/>
    <dgm:cxn modelId="{FFB82E4D-1A58-4521-BAE9-2D0345E90F86}" type="presOf" srcId="{E6FED0EB-0068-4A22-AFB2-F63B5C37EB04}" destId="{841CD06A-2F7E-4964-9826-34B700FBD5E7}" srcOrd="1" destOrd="0" presId="urn:microsoft.com/office/officeart/2005/8/layout/vProcess5"/>
    <dgm:cxn modelId="{BF1BCE84-9806-4D98-BA7A-1BFF8B209D94}" type="presOf" srcId="{EF18653E-C33C-4D27-80EA-3CA78A7B3CC6}" destId="{5EC20CCC-B083-47D7-BBBB-3CD53BE36DD5}" srcOrd="1" destOrd="0" presId="urn:microsoft.com/office/officeart/2005/8/layout/vProcess5"/>
    <dgm:cxn modelId="{CDFF4892-B8E2-4C9D-BC78-984338D24933}" srcId="{ABE4A86B-1C83-4C3A-B798-6CB6BAF5B37C}" destId="{D65EE7A4-4DCC-4B2C-8DD5-783AA19597AE}" srcOrd="0" destOrd="0" parTransId="{C15C6A70-0CBA-4BE0-A7E5-67E15A82A8A0}" sibTransId="{0F11DD9A-2533-4C4E-85EE-1DFD4F4222D4}"/>
    <dgm:cxn modelId="{844DC0C1-9C49-4263-9095-2B28F1F7DB7F}" type="presOf" srcId="{0F11DD9A-2533-4C4E-85EE-1DFD4F4222D4}" destId="{0403C9FE-CD6A-4847-AA07-25FB50DC1A51}" srcOrd="0" destOrd="0" presId="urn:microsoft.com/office/officeart/2005/8/layout/vProcess5"/>
    <dgm:cxn modelId="{0BCBE5E4-338F-44A7-8C74-9AB3864D2B26}" type="presOf" srcId="{D65EE7A4-4DCC-4B2C-8DD5-783AA19597AE}" destId="{0756A2FC-48D6-46A4-B84E-A63F3F7D3EB6}" srcOrd="0" destOrd="0" presId="urn:microsoft.com/office/officeart/2005/8/layout/vProcess5"/>
    <dgm:cxn modelId="{C3A6F6EB-40F0-4B06-950B-4BADD0614733}" type="presOf" srcId="{EF18653E-C33C-4D27-80EA-3CA78A7B3CC6}" destId="{51B0A2CC-6540-42BC-85E4-4C3B03F038B1}" srcOrd="0" destOrd="0" presId="urn:microsoft.com/office/officeart/2005/8/layout/vProcess5"/>
    <dgm:cxn modelId="{7FA427EE-F336-413D-9771-6D89EA674C7F}" srcId="{ABE4A86B-1C83-4C3A-B798-6CB6BAF5B37C}" destId="{EF18653E-C33C-4D27-80EA-3CA78A7B3CC6}" srcOrd="1" destOrd="0" parTransId="{EEEEA413-D529-487F-82EA-D63F2658AF8F}" sibTransId="{441AB8EC-9F47-4A5F-B1EB-F29469BE3697}"/>
    <dgm:cxn modelId="{3DA810F5-7101-46A0-ADF7-7826671DB2FC}" type="presOf" srcId="{ABE4A86B-1C83-4C3A-B798-6CB6BAF5B37C}" destId="{5424901F-0631-4B07-B14B-5FEFBDCE1026}" srcOrd="0" destOrd="0" presId="urn:microsoft.com/office/officeart/2005/8/layout/vProcess5"/>
    <dgm:cxn modelId="{7C86BBF5-C769-4F07-985B-5B2410B19657}" type="presOf" srcId="{E6FED0EB-0068-4A22-AFB2-F63B5C37EB04}" destId="{9849E1EE-5AF3-4831-A72E-129CF014F6D7}" srcOrd="0" destOrd="0" presId="urn:microsoft.com/office/officeart/2005/8/layout/vProcess5"/>
    <dgm:cxn modelId="{455CC08E-9BED-4B2B-B9E6-FFF5E7E6288F}" type="presParOf" srcId="{5424901F-0631-4B07-B14B-5FEFBDCE1026}" destId="{1D289F4C-5482-406A-AE27-B0F28BBC30B2}" srcOrd="0" destOrd="0" presId="urn:microsoft.com/office/officeart/2005/8/layout/vProcess5"/>
    <dgm:cxn modelId="{E4A5CA8F-33EA-4364-9639-C87686D1E49E}" type="presParOf" srcId="{5424901F-0631-4B07-B14B-5FEFBDCE1026}" destId="{0756A2FC-48D6-46A4-B84E-A63F3F7D3EB6}" srcOrd="1" destOrd="0" presId="urn:microsoft.com/office/officeart/2005/8/layout/vProcess5"/>
    <dgm:cxn modelId="{1E19092E-64E0-4A17-934F-7B36BCD9E9EC}" type="presParOf" srcId="{5424901F-0631-4B07-B14B-5FEFBDCE1026}" destId="{51B0A2CC-6540-42BC-85E4-4C3B03F038B1}" srcOrd="2" destOrd="0" presId="urn:microsoft.com/office/officeart/2005/8/layout/vProcess5"/>
    <dgm:cxn modelId="{0EFD5D6F-7EB1-4492-B6DC-5A0FC7324DC3}" type="presParOf" srcId="{5424901F-0631-4B07-B14B-5FEFBDCE1026}" destId="{9849E1EE-5AF3-4831-A72E-129CF014F6D7}" srcOrd="3" destOrd="0" presId="urn:microsoft.com/office/officeart/2005/8/layout/vProcess5"/>
    <dgm:cxn modelId="{33E5C5DE-2673-4329-8552-7ED35E4DC82E}" type="presParOf" srcId="{5424901F-0631-4B07-B14B-5FEFBDCE1026}" destId="{0403C9FE-CD6A-4847-AA07-25FB50DC1A51}" srcOrd="4" destOrd="0" presId="urn:microsoft.com/office/officeart/2005/8/layout/vProcess5"/>
    <dgm:cxn modelId="{67191B2E-B43E-4B27-9A2A-67E6473080A5}" type="presParOf" srcId="{5424901F-0631-4B07-B14B-5FEFBDCE1026}" destId="{048C7416-1B57-453A-948F-34B87A8B409B}" srcOrd="5" destOrd="0" presId="urn:microsoft.com/office/officeart/2005/8/layout/vProcess5"/>
    <dgm:cxn modelId="{BCE99A82-2C79-45E8-A995-7B704BBF7136}" type="presParOf" srcId="{5424901F-0631-4B07-B14B-5FEFBDCE1026}" destId="{476704CB-B136-4001-B00F-690891D1FA7C}" srcOrd="6" destOrd="0" presId="urn:microsoft.com/office/officeart/2005/8/layout/vProcess5"/>
    <dgm:cxn modelId="{6B8FD31B-70B0-4ACD-ACB8-89696BFA9AA3}" type="presParOf" srcId="{5424901F-0631-4B07-B14B-5FEFBDCE1026}" destId="{5EC20CCC-B083-47D7-BBBB-3CD53BE36DD5}" srcOrd="7" destOrd="0" presId="urn:microsoft.com/office/officeart/2005/8/layout/vProcess5"/>
    <dgm:cxn modelId="{3FFF9A1B-2D86-4051-A3CD-F258DDC7DDFB}" type="presParOf" srcId="{5424901F-0631-4B07-B14B-5FEFBDCE1026}" destId="{841CD06A-2F7E-4964-9826-34B700FBD5E7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75E17B0-4A18-4ABA-BAA4-A2C32EFB4A7B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6C53551-BB09-48ED-A850-C6832488F6C1}">
      <dgm:prSet/>
      <dgm:spPr/>
      <dgm:t>
        <a:bodyPr/>
        <a:lstStyle/>
        <a:p>
          <a:r>
            <a:rPr lang="it-IT" dirty="0" err="1"/>
            <a:t>Recommender</a:t>
          </a:r>
          <a:r>
            <a:rPr lang="it-IT" dirty="0"/>
            <a:t> semplice basato su </a:t>
          </a:r>
          <a:r>
            <a:rPr lang="it-IT" dirty="0" err="1"/>
            <a:t>centroide</a:t>
          </a:r>
          <a:endParaRPr lang="en-US" dirty="0"/>
        </a:p>
      </dgm:t>
    </dgm:pt>
    <dgm:pt modelId="{5DF09E8F-48A7-4D2E-8101-C03C0926A223}" type="parTrans" cxnId="{CD4A6732-48FF-46C1-909F-B004E5A1768F}">
      <dgm:prSet/>
      <dgm:spPr/>
      <dgm:t>
        <a:bodyPr/>
        <a:lstStyle/>
        <a:p>
          <a:endParaRPr lang="en-US"/>
        </a:p>
      </dgm:t>
    </dgm:pt>
    <dgm:pt modelId="{23F78494-1F98-41D0-AA31-98A9C917CCDD}" type="sibTrans" cxnId="{CD4A6732-48FF-46C1-909F-B004E5A1768F}">
      <dgm:prSet/>
      <dgm:spPr/>
      <dgm:t>
        <a:bodyPr/>
        <a:lstStyle/>
        <a:p>
          <a:endParaRPr lang="en-US"/>
        </a:p>
      </dgm:t>
    </dgm:pt>
    <dgm:pt modelId="{FD527C5C-7781-4CFE-BA0F-6A39554B55EE}">
      <dgm:prSet/>
      <dgm:spPr/>
      <dgm:t>
        <a:bodyPr/>
        <a:lstStyle/>
        <a:p>
          <a:r>
            <a:rPr lang="it-IT" dirty="0"/>
            <a:t>Liste generate tramite similarità del coseno</a:t>
          </a:r>
          <a:endParaRPr lang="en-US" dirty="0"/>
        </a:p>
      </dgm:t>
    </dgm:pt>
    <dgm:pt modelId="{1F8EEC5D-A738-45FF-9298-ACEE05D4CCE9}" type="parTrans" cxnId="{651EF83E-55D4-43DF-8D1A-B3D02539E409}">
      <dgm:prSet/>
      <dgm:spPr/>
      <dgm:t>
        <a:bodyPr/>
        <a:lstStyle/>
        <a:p>
          <a:endParaRPr lang="en-US"/>
        </a:p>
      </dgm:t>
    </dgm:pt>
    <dgm:pt modelId="{B14CB40A-5782-47B1-A3EC-1B3CE9179082}" type="sibTrans" cxnId="{651EF83E-55D4-43DF-8D1A-B3D02539E409}">
      <dgm:prSet/>
      <dgm:spPr/>
      <dgm:t>
        <a:bodyPr/>
        <a:lstStyle/>
        <a:p>
          <a:endParaRPr lang="en-US"/>
        </a:p>
      </dgm:t>
    </dgm:pt>
    <dgm:pt modelId="{A0E786E1-F75D-4DE3-AD18-C9F8A8DF1CC9}">
      <dgm:prSet/>
      <dgm:spPr/>
      <dgm:t>
        <a:bodyPr/>
        <a:lstStyle/>
        <a:p>
          <a:r>
            <a:rPr lang="it-IT" dirty="0"/>
            <a:t>Ogni lista → ottenuta tramite una fonte informativa specifica</a:t>
          </a:r>
          <a:endParaRPr lang="en-US" dirty="0"/>
        </a:p>
      </dgm:t>
    </dgm:pt>
    <dgm:pt modelId="{80510FBB-2B19-41DE-B999-256642F16803}" type="parTrans" cxnId="{5E7D46EB-A3F5-4A47-965C-299CDB0E40AC}">
      <dgm:prSet/>
      <dgm:spPr/>
      <dgm:t>
        <a:bodyPr/>
        <a:lstStyle/>
        <a:p>
          <a:endParaRPr lang="en-US"/>
        </a:p>
      </dgm:t>
    </dgm:pt>
    <dgm:pt modelId="{B41A6DAF-C15D-4B86-8D61-85D80AB18D88}" type="sibTrans" cxnId="{5E7D46EB-A3F5-4A47-965C-299CDB0E40AC}">
      <dgm:prSet/>
      <dgm:spPr/>
      <dgm:t>
        <a:bodyPr/>
        <a:lstStyle/>
        <a:p>
          <a:endParaRPr lang="en-US"/>
        </a:p>
      </dgm:t>
    </dgm:pt>
    <dgm:pt modelId="{557CDC46-3B5D-4599-8FA8-97693709822B}">
      <dgm:prSet/>
      <dgm:spPr/>
      <dgm:t>
        <a:bodyPr/>
        <a:lstStyle/>
        <a:p>
          <a:pPr rtl="0"/>
          <a:r>
            <a:rPr lang="it-IT" dirty="0"/>
            <a:t>Ordine di visualizzazione delle liste casuale</a:t>
          </a:r>
          <a:endParaRPr lang="en-US" dirty="0"/>
        </a:p>
      </dgm:t>
    </dgm:pt>
    <dgm:pt modelId="{D6479EBC-D34F-4792-AEC5-E8E25F96C70E}" type="parTrans" cxnId="{D905E301-8F13-499F-99DF-DD4AB0CA63F6}">
      <dgm:prSet/>
      <dgm:spPr/>
      <dgm:t>
        <a:bodyPr/>
        <a:lstStyle/>
        <a:p>
          <a:endParaRPr lang="en-US"/>
        </a:p>
      </dgm:t>
    </dgm:pt>
    <dgm:pt modelId="{FC714B0B-0303-4091-8774-CB85545F57C0}" type="sibTrans" cxnId="{D905E301-8F13-499F-99DF-DD4AB0CA63F6}">
      <dgm:prSet/>
      <dgm:spPr/>
      <dgm:t>
        <a:bodyPr/>
        <a:lstStyle/>
        <a:p>
          <a:endParaRPr lang="en-US"/>
        </a:p>
      </dgm:t>
    </dgm:pt>
    <dgm:pt modelId="{F984BDC8-E630-4BF1-BA79-C839F3BFDFBB}">
      <dgm:prSet/>
      <dgm:spPr/>
      <dgm:t>
        <a:bodyPr/>
        <a:lstStyle/>
        <a:p>
          <a:r>
            <a:rPr lang="it-IT" dirty="0"/>
            <a:t>Valutazione di ogni singola lista tramite questionario</a:t>
          </a:r>
          <a:endParaRPr lang="en-US" dirty="0"/>
        </a:p>
      </dgm:t>
    </dgm:pt>
    <dgm:pt modelId="{87062B3F-2297-45C0-9E1A-2B74F70831C3}" type="parTrans" cxnId="{080F491C-9439-4EA5-8FE7-FC54E67CD9AB}">
      <dgm:prSet/>
      <dgm:spPr/>
      <dgm:t>
        <a:bodyPr/>
        <a:lstStyle/>
        <a:p>
          <a:endParaRPr lang="en-US"/>
        </a:p>
      </dgm:t>
    </dgm:pt>
    <dgm:pt modelId="{DDC85A5C-3C17-4EDA-A283-26DD8BE564D9}" type="sibTrans" cxnId="{080F491C-9439-4EA5-8FE7-FC54E67CD9AB}">
      <dgm:prSet/>
      <dgm:spPr/>
      <dgm:t>
        <a:bodyPr/>
        <a:lstStyle/>
        <a:p>
          <a:endParaRPr lang="en-US"/>
        </a:p>
      </dgm:t>
    </dgm:pt>
    <dgm:pt modelId="{1A5977D1-A21F-478E-B359-2E9E2F2256EC}" type="pres">
      <dgm:prSet presAssocID="{E75E17B0-4A18-4ABA-BAA4-A2C32EFB4A7B}" presName="vert0" presStyleCnt="0">
        <dgm:presLayoutVars>
          <dgm:dir/>
          <dgm:animOne val="branch"/>
          <dgm:animLvl val="lvl"/>
        </dgm:presLayoutVars>
      </dgm:prSet>
      <dgm:spPr/>
    </dgm:pt>
    <dgm:pt modelId="{B7D3750A-398E-4879-A950-4CEA155523E2}" type="pres">
      <dgm:prSet presAssocID="{46C53551-BB09-48ED-A850-C6832488F6C1}" presName="thickLine" presStyleLbl="alignNode1" presStyleIdx="0" presStyleCnt="5"/>
      <dgm:spPr/>
    </dgm:pt>
    <dgm:pt modelId="{F7F8726D-7E79-49D0-B20D-6F3BD9ED87E9}" type="pres">
      <dgm:prSet presAssocID="{46C53551-BB09-48ED-A850-C6832488F6C1}" presName="horz1" presStyleCnt="0"/>
      <dgm:spPr/>
    </dgm:pt>
    <dgm:pt modelId="{C5F4578A-99EE-44B5-B89C-1AF53084E570}" type="pres">
      <dgm:prSet presAssocID="{46C53551-BB09-48ED-A850-C6832488F6C1}" presName="tx1" presStyleLbl="revTx" presStyleIdx="0" presStyleCnt="5"/>
      <dgm:spPr/>
    </dgm:pt>
    <dgm:pt modelId="{D9D48467-40D7-437B-BA07-F28F3D7FB1A7}" type="pres">
      <dgm:prSet presAssocID="{46C53551-BB09-48ED-A850-C6832488F6C1}" presName="vert1" presStyleCnt="0"/>
      <dgm:spPr/>
    </dgm:pt>
    <dgm:pt modelId="{1ED94EBB-52CE-4601-B2D1-F9D6232C1D20}" type="pres">
      <dgm:prSet presAssocID="{FD527C5C-7781-4CFE-BA0F-6A39554B55EE}" presName="thickLine" presStyleLbl="alignNode1" presStyleIdx="1" presStyleCnt="5"/>
      <dgm:spPr/>
    </dgm:pt>
    <dgm:pt modelId="{93E4FD9E-3E74-42EF-BD80-1A2F714B1C12}" type="pres">
      <dgm:prSet presAssocID="{FD527C5C-7781-4CFE-BA0F-6A39554B55EE}" presName="horz1" presStyleCnt="0"/>
      <dgm:spPr/>
    </dgm:pt>
    <dgm:pt modelId="{524D88F6-71A4-4EC0-9927-B0F1328EFAB3}" type="pres">
      <dgm:prSet presAssocID="{FD527C5C-7781-4CFE-BA0F-6A39554B55EE}" presName="tx1" presStyleLbl="revTx" presStyleIdx="1" presStyleCnt="5"/>
      <dgm:spPr/>
    </dgm:pt>
    <dgm:pt modelId="{007CF2B0-2299-49A3-A101-0EACB03577D2}" type="pres">
      <dgm:prSet presAssocID="{FD527C5C-7781-4CFE-BA0F-6A39554B55EE}" presName="vert1" presStyleCnt="0"/>
      <dgm:spPr/>
    </dgm:pt>
    <dgm:pt modelId="{477A0F4B-6142-4E97-AD12-3230BFE00423}" type="pres">
      <dgm:prSet presAssocID="{A0E786E1-F75D-4DE3-AD18-C9F8A8DF1CC9}" presName="thickLine" presStyleLbl="alignNode1" presStyleIdx="2" presStyleCnt="5"/>
      <dgm:spPr/>
    </dgm:pt>
    <dgm:pt modelId="{77E9C4DD-EF2B-4B06-9624-902A991E86E4}" type="pres">
      <dgm:prSet presAssocID="{A0E786E1-F75D-4DE3-AD18-C9F8A8DF1CC9}" presName="horz1" presStyleCnt="0"/>
      <dgm:spPr/>
    </dgm:pt>
    <dgm:pt modelId="{549E70CB-6007-4927-A738-90F3BCB1C61A}" type="pres">
      <dgm:prSet presAssocID="{A0E786E1-F75D-4DE3-AD18-C9F8A8DF1CC9}" presName="tx1" presStyleLbl="revTx" presStyleIdx="2" presStyleCnt="5"/>
      <dgm:spPr/>
    </dgm:pt>
    <dgm:pt modelId="{5F17EF03-940B-4A82-80EF-A3F31A36C701}" type="pres">
      <dgm:prSet presAssocID="{A0E786E1-F75D-4DE3-AD18-C9F8A8DF1CC9}" presName="vert1" presStyleCnt="0"/>
      <dgm:spPr/>
    </dgm:pt>
    <dgm:pt modelId="{D1FD2B55-B8EC-4ECA-8EF0-A166641BE765}" type="pres">
      <dgm:prSet presAssocID="{557CDC46-3B5D-4599-8FA8-97693709822B}" presName="thickLine" presStyleLbl="alignNode1" presStyleIdx="3" presStyleCnt="5"/>
      <dgm:spPr/>
    </dgm:pt>
    <dgm:pt modelId="{1D68E7A2-8460-486B-83FE-C7855F5EF24F}" type="pres">
      <dgm:prSet presAssocID="{557CDC46-3B5D-4599-8FA8-97693709822B}" presName="horz1" presStyleCnt="0"/>
      <dgm:spPr/>
    </dgm:pt>
    <dgm:pt modelId="{506409CB-1815-48C6-8EBE-757262A3F4E9}" type="pres">
      <dgm:prSet presAssocID="{557CDC46-3B5D-4599-8FA8-97693709822B}" presName="tx1" presStyleLbl="revTx" presStyleIdx="3" presStyleCnt="5"/>
      <dgm:spPr/>
    </dgm:pt>
    <dgm:pt modelId="{79D04041-5ED1-4889-90D3-B45CE106B009}" type="pres">
      <dgm:prSet presAssocID="{557CDC46-3B5D-4599-8FA8-97693709822B}" presName="vert1" presStyleCnt="0"/>
      <dgm:spPr/>
    </dgm:pt>
    <dgm:pt modelId="{360D9896-39F3-4971-A9BB-90718D7A738A}" type="pres">
      <dgm:prSet presAssocID="{F984BDC8-E630-4BF1-BA79-C839F3BFDFBB}" presName="thickLine" presStyleLbl="alignNode1" presStyleIdx="4" presStyleCnt="5"/>
      <dgm:spPr/>
    </dgm:pt>
    <dgm:pt modelId="{FA2AC7A5-26CC-42DE-9905-264217B8D9F4}" type="pres">
      <dgm:prSet presAssocID="{F984BDC8-E630-4BF1-BA79-C839F3BFDFBB}" presName="horz1" presStyleCnt="0"/>
      <dgm:spPr/>
    </dgm:pt>
    <dgm:pt modelId="{1FF55725-AA74-449E-B12A-E2330F63B9CC}" type="pres">
      <dgm:prSet presAssocID="{F984BDC8-E630-4BF1-BA79-C839F3BFDFBB}" presName="tx1" presStyleLbl="revTx" presStyleIdx="4" presStyleCnt="5"/>
      <dgm:spPr/>
    </dgm:pt>
    <dgm:pt modelId="{351098C2-B553-4656-AC65-084FA36B9C77}" type="pres">
      <dgm:prSet presAssocID="{F984BDC8-E630-4BF1-BA79-C839F3BFDFBB}" presName="vert1" presStyleCnt="0"/>
      <dgm:spPr/>
    </dgm:pt>
  </dgm:ptLst>
  <dgm:cxnLst>
    <dgm:cxn modelId="{D905E301-8F13-499F-99DF-DD4AB0CA63F6}" srcId="{E75E17B0-4A18-4ABA-BAA4-A2C32EFB4A7B}" destId="{557CDC46-3B5D-4599-8FA8-97693709822B}" srcOrd="3" destOrd="0" parTransId="{D6479EBC-D34F-4792-AEC5-E8E25F96C70E}" sibTransId="{FC714B0B-0303-4091-8774-CB85545F57C0}"/>
    <dgm:cxn modelId="{080F491C-9439-4EA5-8FE7-FC54E67CD9AB}" srcId="{E75E17B0-4A18-4ABA-BAA4-A2C32EFB4A7B}" destId="{F984BDC8-E630-4BF1-BA79-C839F3BFDFBB}" srcOrd="4" destOrd="0" parTransId="{87062B3F-2297-45C0-9E1A-2B74F70831C3}" sibTransId="{DDC85A5C-3C17-4EDA-A283-26DD8BE564D9}"/>
    <dgm:cxn modelId="{A6525725-E50F-4D70-B595-DDEA4C89EC2C}" type="presOf" srcId="{FD527C5C-7781-4CFE-BA0F-6A39554B55EE}" destId="{524D88F6-71A4-4EC0-9927-B0F1328EFAB3}" srcOrd="0" destOrd="0" presId="urn:microsoft.com/office/officeart/2008/layout/LinedList"/>
    <dgm:cxn modelId="{7DF62F30-E9AA-4946-B6CC-EFA3937A55EF}" type="presOf" srcId="{E75E17B0-4A18-4ABA-BAA4-A2C32EFB4A7B}" destId="{1A5977D1-A21F-478E-B359-2E9E2F2256EC}" srcOrd="0" destOrd="0" presId="urn:microsoft.com/office/officeart/2008/layout/LinedList"/>
    <dgm:cxn modelId="{CD4A6732-48FF-46C1-909F-B004E5A1768F}" srcId="{E75E17B0-4A18-4ABA-BAA4-A2C32EFB4A7B}" destId="{46C53551-BB09-48ED-A850-C6832488F6C1}" srcOrd="0" destOrd="0" parTransId="{5DF09E8F-48A7-4D2E-8101-C03C0926A223}" sibTransId="{23F78494-1F98-41D0-AA31-98A9C917CCDD}"/>
    <dgm:cxn modelId="{408AD53E-7C1D-4A3F-B2B7-4221150210B2}" type="presOf" srcId="{46C53551-BB09-48ED-A850-C6832488F6C1}" destId="{C5F4578A-99EE-44B5-B89C-1AF53084E570}" srcOrd="0" destOrd="0" presId="urn:microsoft.com/office/officeart/2008/layout/LinedList"/>
    <dgm:cxn modelId="{651EF83E-55D4-43DF-8D1A-B3D02539E409}" srcId="{E75E17B0-4A18-4ABA-BAA4-A2C32EFB4A7B}" destId="{FD527C5C-7781-4CFE-BA0F-6A39554B55EE}" srcOrd="1" destOrd="0" parTransId="{1F8EEC5D-A738-45FF-9298-ACEE05D4CCE9}" sibTransId="{B14CB40A-5782-47B1-A3EC-1B3CE9179082}"/>
    <dgm:cxn modelId="{C557D348-9B61-42EC-AE39-A16C9779750E}" type="presOf" srcId="{557CDC46-3B5D-4599-8FA8-97693709822B}" destId="{506409CB-1815-48C6-8EBE-757262A3F4E9}" srcOrd="0" destOrd="0" presId="urn:microsoft.com/office/officeart/2008/layout/LinedList"/>
    <dgm:cxn modelId="{DDF4EC58-86F5-4D14-9E1B-E0C02D844663}" type="presOf" srcId="{A0E786E1-F75D-4DE3-AD18-C9F8A8DF1CC9}" destId="{549E70CB-6007-4927-A738-90F3BCB1C61A}" srcOrd="0" destOrd="0" presId="urn:microsoft.com/office/officeart/2008/layout/LinedList"/>
    <dgm:cxn modelId="{28D986CA-974C-4595-9E83-1D855270BBB8}" type="presOf" srcId="{F984BDC8-E630-4BF1-BA79-C839F3BFDFBB}" destId="{1FF55725-AA74-449E-B12A-E2330F63B9CC}" srcOrd="0" destOrd="0" presId="urn:microsoft.com/office/officeart/2008/layout/LinedList"/>
    <dgm:cxn modelId="{5E7D46EB-A3F5-4A47-965C-299CDB0E40AC}" srcId="{E75E17B0-4A18-4ABA-BAA4-A2C32EFB4A7B}" destId="{A0E786E1-F75D-4DE3-AD18-C9F8A8DF1CC9}" srcOrd="2" destOrd="0" parTransId="{80510FBB-2B19-41DE-B999-256642F16803}" sibTransId="{B41A6DAF-C15D-4B86-8D61-85D80AB18D88}"/>
    <dgm:cxn modelId="{3467E6A6-6BE4-4293-A6AF-E4BA30A53F9A}" type="presParOf" srcId="{1A5977D1-A21F-478E-B359-2E9E2F2256EC}" destId="{B7D3750A-398E-4879-A950-4CEA155523E2}" srcOrd="0" destOrd="0" presId="urn:microsoft.com/office/officeart/2008/layout/LinedList"/>
    <dgm:cxn modelId="{D921D679-CF45-412C-92F8-F08661441090}" type="presParOf" srcId="{1A5977D1-A21F-478E-B359-2E9E2F2256EC}" destId="{F7F8726D-7E79-49D0-B20D-6F3BD9ED87E9}" srcOrd="1" destOrd="0" presId="urn:microsoft.com/office/officeart/2008/layout/LinedList"/>
    <dgm:cxn modelId="{DACB887B-47C7-4309-93CA-CC8B6B157596}" type="presParOf" srcId="{F7F8726D-7E79-49D0-B20D-6F3BD9ED87E9}" destId="{C5F4578A-99EE-44B5-B89C-1AF53084E570}" srcOrd="0" destOrd="0" presId="urn:microsoft.com/office/officeart/2008/layout/LinedList"/>
    <dgm:cxn modelId="{16805227-F3CB-4A22-A983-174ED725D5CE}" type="presParOf" srcId="{F7F8726D-7E79-49D0-B20D-6F3BD9ED87E9}" destId="{D9D48467-40D7-437B-BA07-F28F3D7FB1A7}" srcOrd="1" destOrd="0" presId="urn:microsoft.com/office/officeart/2008/layout/LinedList"/>
    <dgm:cxn modelId="{9EC2F4EA-BB48-47FE-BB61-6BCE17C63700}" type="presParOf" srcId="{1A5977D1-A21F-478E-B359-2E9E2F2256EC}" destId="{1ED94EBB-52CE-4601-B2D1-F9D6232C1D20}" srcOrd="2" destOrd="0" presId="urn:microsoft.com/office/officeart/2008/layout/LinedList"/>
    <dgm:cxn modelId="{7A217C89-A0C5-40E8-8420-7F21B9E354F9}" type="presParOf" srcId="{1A5977D1-A21F-478E-B359-2E9E2F2256EC}" destId="{93E4FD9E-3E74-42EF-BD80-1A2F714B1C12}" srcOrd="3" destOrd="0" presId="urn:microsoft.com/office/officeart/2008/layout/LinedList"/>
    <dgm:cxn modelId="{E7269C54-2C78-4753-8DD4-E7C3E61385B9}" type="presParOf" srcId="{93E4FD9E-3E74-42EF-BD80-1A2F714B1C12}" destId="{524D88F6-71A4-4EC0-9927-B0F1328EFAB3}" srcOrd="0" destOrd="0" presId="urn:microsoft.com/office/officeart/2008/layout/LinedList"/>
    <dgm:cxn modelId="{141A3C7C-D668-4BB1-A738-8BBE7D411A68}" type="presParOf" srcId="{93E4FD9E-3E74-42EF-BD80-1A2F714B1C12}" destId="{007CF2B0-2299-49A3-A101-0EACB03577D2}" srcOrd="1" destOrd="0" presId="urn:microsoft.com/office/officeart/2008/layout/LinedList"/>
    <dgm:cxn modelId="{4C40178B-74F8-47E2-B44C-4F3F1379728F}" type="presParOf" srcId="{1A5977D1-A21F-478E-B359-2E9E2F2256EC}" destId="{477A0F4B-6142-4E97-AD12-3230BFE00423}" srcOrd="4" destOrd="0" presId="urn:microsoft.com/office/officeart/2008/layout/LinedList"/>
    <dgm:cxn modelId="{076EC875-A0B7-4788-9FA3-3E2C65991EA1}" type="presParOf" srcId="{1A5977D1-A21F-478E-B359-2E9E2F2256EC}" destId="{77E9C4DD-EF2B-4B06-9624-902A991E86E4}" srcOrd="5" destOrd="0" presId="urn:microsoft.com/office/officeart/2008/layout/LinedList"/>
    <dgm:cxn modelId="{2DAC6A19-77E9-47DD-A7DD-2F373F08B822}" type="presParOf" srcId="{77E9C4DD-EF2B-4B06-9624-902A991E86E4}" destId="{549E70CB-6007-4927-A738-90F3BCB1C61A}" srcOrd="0" destOrd="0" presId="urn:microsoft.com/office/officeart/2008/layout/LinedList"/>
    <dgm:cxn modelId="{9A44B9BE-8D03-4B71-9E01-F7493141BB67}" type="presParOf" srcId="{77E9C4DD-EF2B-4B06-9624-902A991E86E4}" destId="{5F17EF03-940B-4A82-80EF-A3F31A36C701}" srcOrd="1" destOrd="0" presId="urn:microsoft.com/office/officeart/2008/layout/LinedList"/>
    <dgm:cxn modelId="{11C216C1-8660-488F-9EF4-2F52BE25C635}" type="presParOf" srcId="{1A5977D1-A21F-478E-B359-2E9E2F2256EC}" destId="{D1FD2B55-B8EC-4ECA-8EF0-A166641BE765}" srcOrd="6" destOrd="0" presId="urn:microsoft.com/office/officeart/2008/layout/LinedList"/>
    <dgm:cxn modelId="{5E7C2D6C-82D3-47F5-92C8-B8319B411E21}" type="presParOf" srcId="{1A5977D1-A21F-478E-B359-2E9E2F2256EC}" destId="{1D68E7A2-8460-486B-83FE-C7855F5EF24F}" srcOrd="7" destOrd="0" presId="urn:microsoft.com/office/officeart/2008/layout/LinedList"/>
    <dgm:cxn modelId="{700DCF83-D718-456A-B5F1-2598E9BCA49D}" type="presParOf" srcId="{1D68E7A2-8460-486B-83FE-C7855F5EF24F}" destId="{506409CB-1815-48C6-8EBE-757262A3F4E9}" srcOrd="0" destOrd="0" presId="urn:microsoft.com/office/officeart/2008/layout/LinedList"/>
    <dgm:cxn modelId="{6BBD0746-D909-45C9-A2F5-A4173DAAFDEC}" type="presParOf" srcId="{1D68E7A2-8460-486B-83FE-C7855F5EF24F}" destId="{79D04041-5ED1-4889-90D3-B45CE106B009}" srcOrd="1" destOrd="0" presId="urn:microsoft.com/office/officeart/2008/layout/LinedList"/>
    <dgm:cxn modelId="{D73F2BF1-85BB-4275-8AAF-9ACE84CA39BA}" type="presParOf" srcId="{1A5977D1-A21F-478E-B359-2E9E2F2256EC}" destId="{360D9896-39F3-4971-A9BB-90718D7A738A}" srcOrd="8" destOrd="0" presId="urn:microsoft.com/office/officeart/2008/layout/LinedList"/>
    <dgm:cxn modelId="{497DCF50-6698-4D37-A72F-83C62ECC42B2}" type="presParOf" srcId="{1A5977D1-A21F-478E-B359-2E9E2F2256EC}" destId="{FA2AC7A5-26CC-42DE-9905-264217B8D9F4}" srcOrd="9" destOrd="0" presId="urn:microsoft.com/office/officeart/2008/layout/LinedList"/>
    <dgm:cxn modelId="{27B13F8A-CF1B-4C84-A115-5A0CD0FC466D}" type="presParOf" srcId="{FA2AC7A5-26CC-42DE-9905-264217B8D9F4}" destId="{1FF55725-AA74-449E-B12A-E2330F63B9CC}" srcOrd="0" destOrd="0" presId="urn:microsoft.com/office/officeart/2008/layout/LinedList"/>
    <dgm:cxn modelId="{3878F89C-FAC6-42A6-AADC-F81DDB591277}" type="presParOf" srcId="{FA2AC7A5-26CC-42DE-9905-264217B8D9F4}" destId="{351098C2-B553-4656-AC65-084FA36B9C7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BE4A86B-1C83-4C3A-B798-6CB6BAF5B37C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65EE7A4-4DCC-4B2C-8DD5-783AA19597AE}">
      <dgm:prSet/>
      <dgm:spPr>
        <a:solidFill>
          <a:schemeClr val="accent2"/>
        </a:solidFill>
      </dgm:spPr>
      <dgm:t>
        <a:bodyPr/>
        <a:lstStyle/>
        <a:p>
          <a:r>
            <a:rPr lang="en-US" b="1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1. </a:t>
          </a:r>
          <a:r>
            <a:rPr lang="en-US" b="1" cap="none" spc="0" dirty="0" err="1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Costruzione</a:t>
          </a:r>
          <a:r>
            <a:rPr lang="en-US" b="1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 </a:t>
          </a:r>
          <a:r>
            <a:rPr lang="en-US" b="1" cap="none" spc="0" dirty="0" err="1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Profilo</a:t>
          </a:r>
          <a:r>
            <a:rPr lang="en-US" b="1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 </a:t>
          </a:r>
          <a:r>
            <a:rPr lang="en-US" b="1" cap="none" spc="0" dirty="0" err="1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Utente</a:t>
          </a:r>
          <a:r>
            <a:rPr lang="en-US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: </a:t>
          </a:r>
          <a:r>
            <a:rPr lang="en-US" b="0" cap="none" spc="0" dirty="0" err="1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L’utente</a:t>
          </a:r>
          <a:r>
            <a:rPr lang="en-US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 </a:t>
          </a:r>
          <a:r>
            <a:rPr lang="en-US" b="0" cap="none" spc="0" dirty="0" err="1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inserisce</a:t>
          </a:r>
          <a:r>
            <a:rPr lang="en-US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 </a:t>
          </a:r>
          <a:r>
            <a:rPr lang="en-US" b="0" cap="none" spc="0" dirty="0" err="1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i</a:t>
          </a:r>
          <a:r>
            <a:rPr lang="en-US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 </a:t>
          </a:r>
          <a:r>
            <a:rPr lang="en-US" b="0" cap="none" spc="0" dirty="0" err="1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propri</a:t>
          </a:r>
          <a:r>
            <a:rPr lang="en-US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 film </a:t>
          </a:r>
          <a:r>
            <a:rPr lang="en-US" b="0" cap="none" spc="0" dirty="0" err="1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preferiti</a:t>
          </a:r>
          <a:r>
            <a:rPr lang="en-US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 </a:t>
          </a:r>
          <a:r>
            <a:rPr lang="en-US" b="0" cap="none" spc="0" dirty="0" err="1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attraverso</a:t>
          </a:r>
          <a:r>
            <a:rPr lang="en-US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 </a:t>
          </a:r>
          <a:r>
            <a:rPr lang="en-US" b="0" cap="none" spc="0" dirty="0" err="1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una</a:t>
          </a:r>
          <a:r>
            <a:rPr lang="en-US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 </a:t>
          </a:r>
          <a:r>
            <a:rPr lang="en-US" b="0" cap="none" spc="0" dirty="0" err="1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barra</a:t>
          </a:r>
          <a:r>
            <a:rPr lang="en-US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 di </a:t>
          </a:r>
          <a:r>
            <a:rPr lang="en-US" b="0" cap="none" spc="0" dirty="0" err="1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ricerca</a:t>
          </a:r>
          <a:endParaRPr lang="en-US" b="0" cap="none" spc="0" dirty="0">
            <a:ln w="0"/>
            <a:solidFill>
              <a:schemeClr val="accent1"/>
            </a:solidFill>
            <a:effectLst>
              <a:outerShdw blurRad="38100" dist="25400" dir="5400000" algn="ctr" rotWithShape="0">
                <a:srgbClr val="6E747A">
                  <a:alpha val="43000"/>
                </a:srgbClr>
              </a:outerShdw>
            </a:effectLst>
          </a:endParaRPr>
        </a:p>
      </dgm:t>
    </dgm:pt>
    <dgm:pt modelId="{C15C6A70-0CBA-4BE0-A7E5-67E15A82A8A0}" type="parTrans" cxnId="{CDFF4892-B8E2-4C9D-BC78-984338D24933}">
      <dgm:prSet/>
      <dgm:spPr/>
      <dgm:t>
        <a:bodyPr/>
        <a:lstStyle/>
        <a:p>
          <a:endParaRPr lang="en-US"/>
        </a:p>
      </dgm:t>
    </dgm:pt>
    <dgm:pt modelId="{0F11DD9A-2533-4C4E-85EE-1DFD4F4222D4}" type="sibTrans" cxnId="{CDFF4892-B8E2-4C9D-BC78-984338D24933}">
      <dgm:prSet/>
      <dgm:spPr/>
      <dgm:t>
        <a:bodyPr/>
        <a:lstStyle/>
        <a:p>
          <a:endParaRPr lang="en-US"/>
        </a:p>
      </dgm:t>
    </dgm:pt>
    <dgm:pt modelId="{EF18653E-C33C-4D27-80EA-3CA78A7B3CC6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it-IT" b="1" dirty="0"/>
            <a:t>2. Generazione delle raccomandazioni</a:t>
          </a:r>
          <a:r>
            <a:rPr lang="it-IT" dirty="0"/>
            <a:t>: Il sistema genera una lista di raccomandazione per ciascuna tecnica</a:t>
          </a:r>
          <a:endParaRPr lang="en-US" dirty="0"/>
        </a:p>
      </dgm:t>
    </dgm:pt>
    <dgm:pt modelId="{EEEEA413-D529-487F-82EA-D63F2658AF8F}" type="parTrans" cxnId="{7FA427EE-F336-413D-9771-6D89EA674C7F}">
      <dgm:prSet/>
      <dgm:spPr/>
      <dgm:t>
        <a:bodyPr/>
        <a:lstStyle/>
        <a:p>
          <a:endParaRPr lang="en-US"/>
        </a:p>
      </dgm:t>
    </dgm:pt>
    <dgm:pt modelId="{441AB8EC-9F47-4A5F-B1EB-F29469BE3697}" type="sibTrans" cxnId="{7FA427EE-F336-413D-9771-6D89EA674C7F}">
      <dgm:prSet/>
      <dgm:spPr/>
      <dgm:t>
        <a:bodyPr/>
        <a:lstStyle/>
        <a:p>
          <a:endParaRPr lang="en-US"/>
        </a:p>
      </dgm:t>
    </dgm:pt>
    <dgm:pt modelId="{E6FED0EB-0068-4A22-AFB2-F63B5C37EB04}">
      <dgm:prSet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it-IT" b="1" dirty="0"/>
            <a:t>3. Valutazione delle raccomandazioni: </a:t>
          </a:r>
          <a:r>
            <a:rPr lang="it-IT" b="0" dirty="0"/>
            <a:t>Per ogni lista un utente risponde a un questionario di valutazione </a:t>
          </a:r>
          <a:endParaRPr lang="en-US" b="0" dirty="0"/>
        </a:p>
      </dgm:t>
    </dgm:pt>
    <dgm:pt modelId="{539DA64B-176D-49FD-A2E8-8A979D8C4B54}" type="parTrans" cxnId="{382EB04C-8442-447F-988F-350B72288C9E}">
      <dgm:prSet/>
      <dgm:spPr/>
      <dgm:t>
        <a:bodyPr/>
        <a:lstStyle/>
        <a:p>
          <a:endParaRPr lang="en-US"/>
        </a:p>
      </dgm:t>
    </dgm:pt>
    <dgm:pt modelId="{417A38A6-A295-4D8A-B49A-A95955E0DADA}" type="sibTrans" cxnId="{382EB04C-8442-447F-988F-350B72288C9E}">
      <dgm:prSet/>
      <dgm:spPr/>
      <dgm:t>
        <a:bodyPr/>
        <a:lstStyle/>
        <a:p>
          <a:endParaRPr lang="en-US"/>
        </a:p>
      </dgm:t>
    </dgm:pt>
    <dgm:pt modelId="{5424901F-0631-4B07-B14B-5FEFBDCE1026}" type="pres">
      <dgm:prSet presAssocID="{ABE4A86B-1C83-4C3A-B798-6CB6BAF5B37C}" presName="outerComposite" presStyleCnt="0">
        <dgm:presLayoutVars>
          <dgm:chMax val="5"/>
          <dgm:dir/>
          <dgm:resizeHandles val="exact"/>
        </dgm:presLayoutVars>
      </dgm:prSet>
      <dgm:spPr/>
    </dgm:pt>
    <dgm:pt modelId="{1D289F4C-5482-406A-AE27-B0F28BBC30B2}" type="pres">
      <dgm:prSet presAssocID="{ABE4A86B-1C83-4C3A-B798-6CB6BAF5B37C}" presName="dummyMaxCanvas" presStyleCnt="0">
        <dgm:presLayoutVars/>
      </dgm:prSet>
      <dgm:spPr/>
    </dgm:pt>
    <dgm:pt modelId="{0756A2FC-48D6-46A4-B84E-A63F3F7D3EB6}" type="pres">
      <dgm:prSet presAssocID="{ABE4A86B-1C83-4C3A-B798-6CB6BAF5B37C}" presName="ThreeNodes_1" presStyleLbl="node1" presStyleIdx="0" presStyleCnt="3" custLinFactNeighborX="216">
        <dgm:presLayoutVars>
          <dgm:bulletEnabled val="1"/>
        </dgm:presLayoutVars>
      </dgm:prSet>
      <dgm:spPr/>
    </dgm:pt>
    <dgm:pt modelId="{51B0A2CC-6540-42BC-85E4-4C3B03F038B1}" type="pres">
      <dgm:prSet presAssocID="{ABE4A86B-1C83-4C3A-B798-6CB6BAF5B37C}" presName="ThreeNodes_2" presStyleLbl="node1" presStyleIdx="1" presStyleCnt="3">
        <dgm:presLayoutVars>
          <dgm:bulletEnabled val="1"/>
        </dgm:presLayoutVars>
      </dgm:prSet>
      <dgm:spPr/>
    </dgm:pt>
    <dgm:pt modelId="{9849E1EE-5AF3-4831-A72E-129CF014F6D7}" type="pres">
      <dgm:prSet presAssocID="{ABE4A86B-1C83-4C3A-B798-6CB6BAF5B37C}" presName="ThreeNodes_3" presStyleLbl="node1" presStyleIdx="2" presStyleCnt="3">
        <dgm:presLayoutVars>
          <dgm:bulletEnabled val="1"/>
        </dgm:presLayoutVars>
      </dgm:prSet>
      <dgm:spPr/>
    </dgm:pt>
    <dgm:pt modelId="{0403C9FE-CD6A-4847-AA07-25FB50DC1A51}" type="pres">
      <dgm:prSet presAssocID="{ABE4A86B-1C83-4C3A-B798-6CB6BAF5B37C}" presName="ThreeConn_1-2" presStyleLbl="fgAccFollowNode1" presStyleIdx="0" presStyleCnt="2">
        <dgm:presLayoutVars>
          <dgm:bulletEnabled val="1"/>
        </dgm:presLayoutVars>
      </dgm:prSet>
      <dgm:spPr/>
    </dgm:pt>
    <dgm:pt modelId="{048C7416-1B57-453A-948F-34B87A8B409B}" type="pres">
      <dgm:prSet presAssocID="{ABE4A86B-1C83-4C3A-B798-6CB6BAF5B37C}" presName="ThreeConn_2-3" presStyleLbl="fgAccFollowNode1" presStyleIdx="1" presStyleCnt="2">
        <dgm:presLayoutVars>
          <dgm:bulletEnabled val="1"/>
        </dgm:presLayoutVars>
      </dgm:prSet>
      <dgm:spPr/>
    </dgm:pt>
    <dgm:pt modelId="{476704CB-B136-4001-B00F-690891D1FA7C}" type="pres">
      <dgm:prSet presAssocID="{ABE4A86B-1C83-4C3A-B798-6CB6BAF5B37C}" presName="ThreeNodes_1_text" presStyleLbl="node1" presStyleIdx="2" presStyleCnt="3">
        <dgm:presLayoutVars>
          <dgm:bulletEnabled val="1"/>
        </dgm:presLayoutVars>
      </dgm:prSet>
      <dgm:spPr/>
    </dgm:pt>
    <dgm:pt modelId="{5EC20CCC-B083-47D7-BBBB-3CD53BE36DD5}" type="pres">
      <dgm:prSet presAssocID="{ABE4A86B-1C83-4C3A-B798-6CB6BAF5B37C}" presName="ThreeNodes_2_text" presStyleLbl="node1" presStyleIdx="2" presStyleCnt="3">
        <dgm:presLayoutVars>
          <dgm:bulletEnabled val="1"/>
        </dgm:presLayoutVars>
      </dgm:prSet>
      <dgm:spPr/>
    </dgm:pt>
    <dgm:pt modelId="{841CD06A-2F7E-4964-9826-34B700FBD5E7}" type="pres">
      <dgm:prSet presAssocID="{ABE4A86B-1C83-4C3A-B798-6CB6BAF5B37C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24204D68-A153-4E22-BB51-FF7D80331D48}" type="presOf" srcId="{D65EE7A4-4DCC-4B2C-8DD5-783AA19597AE}" destId="{476704CB-B136-4001-B00F-690891D1FA7C}" srcOrd="1" destOrd="0" presId="urn:microsoft.com/office/officeart/2005/8/layout/vProcess5"/>
    <dgm:cxn modelId="{C803616C-B01F-4585-8D96-891C120D56F7}" type="presOf" srcId="{441AB8EC-9F47-4A5F-B1EB-F29469BE3697}" destId="{048C7416-1B57-453A-948F-34B87A8B409B}" srcOrd="0" destOrd="0" presId="urn:microsoft.com/office/officeart/2005/8/layout/vProcess5"/>
    <dgm:cxn modelId="{382EB04C-8442-447F-988F-350B72288C9E}" srcId="{ABE4A86B-1C83-4C3A-B798-6CB6BAF5B37C}" destId="{E6FED0EB-0068-4A22-AFB2-F63B5C37EB04}" srcOrd="2" destOrd="0" parTransId="{539DA64B-176D-49FD-A2E8-8A979D8C4B54}" sibTransId="{417A38A6-A295-4D8A-B49A-A95955E0DADA}"/>
    <dgm:cxn modelId="{FFB82E4D-1A58-4521-BAE9-2D0345E90F86}" type="presOf" srcId="{E6FED0EB-0068-4A22-AFB2-F63B5C37EB04}" destId="{841CD06A-2F7E-4964-9826-34B700FBD5E7}" srcOrd="1" destOrd="0" presId="urn:microsoft.com/office/officeart/2005/8/layout/vProcess5"/>
    <dgm:cxn modelId="{BF1BCE84-9806-4D98-BA7A-1BFF8B209D94}" type="presOf" srcId="{EF18653E-C33C-4D27-80EA-3CA78A7B3CC6}" destId="{5EC20CCC-B083-47D7-BBBB-3CD53BE36DD5}" srcOrd="1" destOrd="0" presId="urn:microsoft.com/office/officeart/2005/8/layout/vProcess5"/>
    <dgm:cxn modelId="{CDFF4892-B8E2-4C9D-BC78-984338D24933}" srcId="{ABE4A86B-1C83-4C3A-B798-6CB6BAF5B37C}" destId="{D65EE7A4-4DCC-4B2C-8DD5-783AA19597AE}" srcOrd="0" destOrd="0" parTransId="{C15C6A70-0CBA-4BE0-A7E5-67E15A82A8A0}" sibTransId="{0F11DD9A-2533-4C4E-85EE-1DFD4F4222D4}"/>
    <dgm:cxn modelId="{844DC0C1-9C49-4263-9095-2B28F1F7DB7F}" type="presOf" srcId="{0F11DD9A-2533-4C4E-85EE-1DFD4F4222D4}" destId="{0403C9FE-CD6A-4847-AA07-25FB50DC1A51}" srcOrd="0" destOrd="0" presId="urn:microsoft.com/office/officeart/2005/8/layout/vProcess5"/>
    <dgm:cxn modelId="{0BCBE5E4-338F-44A7-8C74-9AB3864D2B26}" type="presOf" srcId="{D65EE7A4-4DCC-4B2C-8DD5-783AA19597AE}" destId="{0756A2FC-48D6-46A4-B84E-A63F3F7D3EB6}" srcOrd="0" destOrd="0" presId="urn:microsoft.com/office/officeart/2005/8/layout/vProcess5"/>
    <dgm:cxn modelId="{C3A6F6EB-40F0-4B06-950B-4BADD0614733}" type="presOf" srcId="{EF18653E-C33C-4D27-80EA-3CA78A7B3CC6}" destId="{51B0A2CC-6540-42BC-85E4-4C3B03F038B1}" srcOrd="0" destOrd="0" presId="urn:microsoft.com/office/officeart/2005/8/layout/vProcess5"/>
    <dgm:cxn modelId="{7FA427EE-F336-413D-9771-6D89EA674C7F}" srcId="{ABE4A86B-1C83-4C3A-B798-6CB6BAF5B37C}" destId="{EF18653E-C33C-4D27-80EA-3CA78A7B3CC6}" srcOrd="1" destOrd="0" parTransId="{EEEEA413-D529-487F-82EA-D63F2658AF8F}" sibTransId="{441AB8EC-9F47-4A5F-B1EB-F29469BE3697}"/>
    <dgm:cxn modelId="{3DA810F5-7101-46A0-ADF7-7826671DB2FC}" type="presOf" srcId="{ABE4A86B-1C83-4C3A-B798-6CB6BAF5B37C}" destId="{5424901F-0631-4B07-B14B-5FEFBDCE1026}" srcOrd="0" destOrd="0" presId="urn:microsoft.com/office/officeart/2005/8/layout/vProcess5"/>
    <dgm:cxn modelId="{7C86BBF5-C769-4F07-985B-5B2410B19657}" type="presOf" srcId="{E6FED0EB-0068-4A22-AFB2-F63B5C37EB04}" destId="{9849E1EE-5AF3-4831-A72E-129CF014F6D7}" srcOrd="0" destOrd="0" presId="urn:microsoft.com/office/officeart/2005/8/layout/vProcess5"/>
    <dgm:cxn modelId="{455CC08E-9BED-4B2B-B9E6-FFF5E7E6288F}" type="presParOf" srcId="{5424901F-0631-4B07-B14B-5FEFBDCE1026}" destId="{1D289F4C-5482-406A-AE27-B0F28BBC30B2}" srcOrd="0" destOrd="0" presId="urn:microsoft.com/office/officeart/2005/8/layout/vProcess5"/>
    <dgm:cxn modelId="{E4A5CA8F-33EA-4364-9639-C87686D1E49E}" type="presParOf" srcId="{5424901F-0631-4B07-B14B-5FEFBDCE1026}" destId="{0756A2FC-48D6-46A4-B84E-A63F3F7D3EB6}" srcOrd="1" destOrd="0" presId="urn:microsoft.com/office/officeart/2005/8/layout/vProcess5"/>
    <dgm:cxn modelId="{1E19092E-64E0-4A17-934F-7B36BCD9E9EC}" type="presParOf" srcId="{5424901F-0631-4B07-B14B-5FEFBDCE1026}" destId="{51B0A2CC-6540-42BC-85E4-4C3B03F038B1}" srcOrd="2" destOrd="0" presId="urn:microsoft.com/office/officeart/2005/8/layout/vProcess5"/>
    <dgm:cxn modelId="{0EFD5D6F-7EB1-4492-B6DC-5A0FC7324DC3}" type="presParOf" srcId="{5424901F-0631-4B07-B14B-5FEFBDCE1026}" destId="{9849E1EE-5AF3-4831-A72E-129CF014F6D7}" srcOrd="3" destOrd="0" presId="urn:microsoft.com/office/officeart/2005/8/layout/vProcess5"/>
    <dgm:cxn modelId="{33E5C5DE-2673-4329-8552-7ED35E4DC82E}" type="presParOf" srcId="{5424901F-0631-4B07-B14B-5FEFBDCE1026}" destId="{0403C9FE-CD6A-4847-AA07-25FB50DC1A51}" srcOrd="4" destOrd="0" presId="urn:microsoft.com/office/officeart/2005/8/layout/vProcess5"/>
    <dgm:cxn modelId="{67191B2E-B43E-4B27-9A2A-67E6473080A5}" type="presParOf" srcId="{5424901F-0631-4B07-B14B-5FEFBDCE1026}" destId="{048C7416-1B57-453A-948F-34B87A8B409B}" srcOrd="5" destOrd="0" presId="urn:microsoft.com/office/officeart/2005/8/layout/vProcess5"/>
    <dgm:cxn modelId="{BCE99A82-2C79-45E8-A995-7B704BBF7136}" type="presParOf" srcId="{5424901F-0631-4B07-B14B-5FEFBDCE1026}" destId="{476704CB-B136-4001-B00F-690891D1FA7C}" srcOrd="6" destOrd="0" presId="urn:microsoft.com/office/officeart/2005/8/layout/vProcess5"/>
    <dgm:cxn modelId="{6B8FD31B-70B0-4ACD-ACB8-89696BFA9AA3}" type="presParOf" srcId="{5424901F-0631-4B07-B14B-5FEFBDCE1026}" destId="{5EC20CCC-B083-47D7-BBBB-3CD53BE36DD5}" srcOrd="7" destOrd="0" presId="urn:microsoft.com/office/officeart/2005/8/layout/vProcess5"/>
    <dgm:cxn modelId="{3FFF9A1B-2D86-4051-A3CD-F258DDC7DDFB}" type="presParOf" srcId="{5424901F-0631-4B07-B14B-5FEFBDCE1026}" destId="{841CD06A-2F7E-4964-9826-34B700FBD5E7}" srcOrd="8" destOrd="0" presId="urn:microsoft.com/office/officeart/2005/8/layout/vProcess5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45CCEE6-8B32-4E58-9C70-E538D2E0C6A7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B0395D70-FCA4-4937-B6CF-1686D6F1EFDA}">
      <dgm:prSet/>
      <dgm:spPr/>
      <dgm:t>
        <a:bodyPr/>
        <a:lstStyle/>
        <a:p>
          <a:endParaRPr lang="en-US" dirty="0"/>
        </a:p>
      </dgm:t>
    </dgm:pt>
    <dgm:pt modelId="{E0596734-419E-45E8-BBCA-1F638C3B4B23}" type="parTrans" cxnId="{82384664-DCAC-4A59-99E2-DF1CABBDE736}">
      <dgm:prSet/>
      <dgm:spPr/>
      <dgm:t>
        <a:bodyPr/>
        <a:lstStyle/>
        <a:p>
          <a:endParaRPr lang="en-US"/>
        </a:p>
      </dgm:t>
    </dgm:pt>
    <dgm:pt modelId="{B9D62BE5-6B6E-486A-82F0-B3C9C05372FC}" type="sibTrans" cxnId="{82384664-DCAC-4A59-99E2-DF1CABBDE736}">
      <dgm:prSet/>
      <dgm:spPr/>
      <dgm:t>
        <a:bodyPr/>
        <a:lstStyle/>
        <a:p>
          <a:endParaRPr lang="en-US"/>
        </a:p>
      </dgm:t>
    </dgm:pt>
    <dgm:pt modelId="{7BFB2FD6-7A2D-4B7B-BE0F-255D0B1D002F}">
      <dgm:prSet/>
      <dgm:spPr/>
      <dgm:t>
        <a:bodyPr/>
        <a:lstStyle/>
        <a:p>
          <a:r>
            <a:rPr lang="it-IT" b="1" dirty="0"/>
            <a:t>Qualità delle raccomandazioni</a:t>
          </a:r>
          <a:br>
            <a:rPr lang="it-IT" dirty="0"/>
          </a:br>
          <a:r>
            <a:rPr lang="it-IT" i="1" dirty="0"/>
            <a:t>(Accuratezza, Originalità, Varietà)</a:t>
          </a:r>
          <a:endParaRPr lang="en-US" dirty="0"/>
        </a:p>
      </dgm:t>
    </dgm:pt>
    <dgm:pt modelId="{B75D827D-A1E5-4B05-9C9D-DB2A172D7963}" type="parTrans" cxnId="{0C4EC2B9-6E90-4FD1-80F3-515348B4E654}">
      <dgm:prSet/>
      <dgm:spPr/>
      <dgm:t>
        <a:bodyPr/>
        <a:lstStyle/>
        <a:p>
          <a:endParaRPr lang="en-US"/>
        </a:p>
      </dgm:t>
    </dgm:pt>
    <dgm:pt modelId="{2643CFF8-7C2E-48A6-8B42-A4E22D0B728E}" type="sibTrans" cxnId="{0C4EC2B9-6E90-4FD1-80F3-515348B4E654}">
      <dgm:prSet/>
      <dgm:spPr/>
      <dgm:t>
        <a:bodyPr/>
        <a:lstStyle/>
        <a:p>
          <a:endParaRPr lang="en-US"/>
        </a:p>
      </dgm:t>
    </dgm:pt>
    <dgm:pt modelId="{BA762991-714F-429D-8420-7648ED16B394}">
      <dgm:prSet/>
      <dgm:spPr/>
      <dgm:t>
        <a:bodyPr/>
        <a:lstStyle/>
        <a:p>
          <a:r>
            <a:rPr lang="it-IT" b="1"/>
            <a:t>Esperienza utente</a:t>
          </a:r>
          <a:br>
            <a:rPr lang="it-IT"/>
          </a:br>
          <a:r>
            <a:rPr lang="it-IT" i="1"/>
            <a:t>(Facilità d’uso, Interazione, Familiarità col sistema)</a:t>
          </a:r>
          <a:endParaRPr lang="en-US"/>
        </a:p>
      </dgm:t>
    </dgm:pt>
    <dgm:pt modelId="{6202E46F-7085-4A54-8A59-22BAE938A0F2}" type="parTrans" cxnId="{5CA47557-DA76-4622-801E-A1B8DC3EF5AB}">
      <dgm:prSet/>
      <dgm:spPr/>
      <dgm:t>
        <a:bodyPr/>
        <a:lstStyle/>
        <a:p>
          <a:endParaRPr lang="en-US"/>
        </a:p>
      </dgm:t>
    </dgm:pt>
    <dgm:pt modelId="{1B86A8E7-36E0-4284-A0DB-0BCDBE719D56}" type="sibTrans" cxnId="{5CA47557-DA76-4622-801E-A1B8DC3EF5AB}">
      <dgm:prSet/>
      <dgm:spPr/>
      <dgm:t>
        <a:bodyPr/>
        <a:lstStyle/>
        <a:p>
          <a:endParaRPr lang="en-US"/>
        </a:p>
      </dgm:t>
    </dgm:pt>
    <dgm:pt modelId="{C5510764-3A82-4218-A619-C133419DCDFC}">
      <dgm:prSet/>
      <dgm:spPr/>
      <dgm:t>
        <a:bodyPr/>
        <a:lstStyle/>
        <a:p>
          <a:r>
            <a:rPr lang="it-IT" b="1" dirty="0"/>
            <a:t>Controllo e trasparenza</a:t>
          </a:r>
          <a:br>
            <a:rPr lang="it-IT" dirty="0"/>
          </a:br>
          <a:r>
            <a:rPr lang="it-IT" i="1" dirty="0"/>
            <a:t>(Gestione del profilo, Comprensione delle raccomandazioni)</a:t>
          </a:r>
          <a:endParaRPr lang="en-US" dirty="0"/>
        </a:p>
      </dgm:t>
    </dgm:pt>
    <dgm:pt modelId="{0922CCDD-B913-4A8A-ADEE-75D62F93D5B2}" type="parTrans" cxnId="{0847A3B5-A6D9-4C60-9B92-AC7771DB7965}">
      <dgm:prSet/>
      <dgm:spPr/>
      <dgm:t>
        <a:bodyPr/>
        <a:lstStyle/>
        <a:p>
          <a:endParaRPr lang="en-US"/>
        </a:p>
      </dgm:t>
    </dgm:pt>
    <dgm:pt modelId="{A8889438-5C66-4E0D-B231-E5590466C4C9}" type="sibTrans" cxnId="{0847A3B5-A6D9-4C60-9B92-AC7771DB7965}">
      <dgm:prSet/>
      <dgm:spPr/>
      <dgm:t>
        <a:bodyPr/>
        <a:lstStyle/>
        <a:p>
          <a:endParaRPr lang="en-US"/>
        </a:p>
      </dgm:t>
    </dgm:pt>
    <dgm:pt modelId="{0D7283AD-B338-409C-BE87-367D06561D21}">
      <dgm:prSet/>
      <dgm:spPr/>
      <dgm:t>
        <a:bodyPr/>
        <a:lstStyle/>
        <a:p>
          <a:r>
            <a:rPr lang="it-IT" b="1" dirty="0"/>
            <a:t>Utilità percepita e fiducia</a:t>
          </a:r>
          <a:br>
            <a:rPr lang="it-IT" dirty="0"/>
          </a:br>
          <a:r>
            <a:rPr lang="it-IT" i="1" dirty="0"/>
            <a:t>(Utilità dei suggerimenti, fiducia nei suggerimenti, Soddisfazione)</a:t>
          </a:r>
          <a:endParaRPr lang="en-US" dirty="0"/>
        </a:p>
      </dgm:t>
    </dgm:pt>
    <dgm:pt modelId="{09AD2C3A-6492-4861-8A25-229191598AEE}" type="parTrans" cxnId="{CBF8AC93-AA87-404A-A4A5-E8C170323D9E}">
      <dgm:prSet/>
      <dgm:spPr/>
      <dgm:t>
        <a:bodyPr/>
        <a:lstStyle/>
        <a:p>
          <a:endParaRPr lang="en-US"/>
        </a:p>
      </dgm:t>
    </dgm:pt>
    <dgm:pt modelId="{B6F6A6DD-8D05-4DBE-95F4-4FBF82B1B9C9}" type="sibTrans" cxnId="{CBF8AC93-AA87-404A-A4A5-E8C170323D9E}">
      <dgm:prSet/>
      <dgm:spPr/>
      <dgm:t>
        <a:bodyPr/>
        <a:lstStyle/>
        <a:p>
          <a:endParaRPr lang="en-US"/>
        </a:p>
      </dgm:t>
    </dgm:pt>
    <dgm:pt modelId="{4401B18D-86FC-46AA-9B0A-1E91FF8402EE}">
      <dgm:prSet/>
      <dgm:spPr/>
      <dgm:t>
        <a:bodyPr/>
        <a:lstStyle/>
        <a:p>
          <a:r>
            <a:rPr lang="it-IT" b="1"/>
            <a:t>Intenzioni future</a:t>
          </a:r>
          <a:br>
            <a:rPr lang="it-IT"/>
          </a:br>
          <a:r>
            <a:rPr lang="it-IT" i="1"/>
            <a:t>(Riutilizzo del sistema, Possibilità di acquisto)</a:t>
          </a:r>
          <a:endParaRPr lang="en-US"/>
        </a:p>
      </dgm:t>
    </dgm:pt>
    <dgm:pt modelId="{98DE9404-F0EC-4B6A-B3FD-C1B223E88A3E}" type="parTrans" cxnId="{408F5E08-F946-47C0-8AF6-ADEEA7B39890}">
      <dgm:prSet/>
      <dgm:spPr/>
      <dgm:t>
        <a:bodyPr/>
        <a:lstStyle/>
        <a:p>
          <a:endParaRPr lang="en-US"/>
        </a:p>
      </dgm:t>
    </dgm:pt>
    <dgm:pt modelId="{EE106597-1346-49B8-8CA0-C6CA97134DEF}" type="sibTrans" cxnId="{408F5E08-F946-47C0-8AF6-ADEEA7B39890}">
      <dgm:prSet/>
      <dgm:spPr/>
      <dgm:t>
        <a:bodyPr/>
        <a:lstStyle/>
        <a:p>
          <a:endParaRPr lang="en-US"/>
        </a:p>
      </dgm:t>
    </dgm:pt>
    <dgm:pt modelId="{ECC4D621-7794-4704-BBE8-0997E8BEDD98}" type="pres">
      <dgm:prSet presAssocID="{E45CCEE6-8B32-4E58-9C70-E538D2E0C6A7}" presName="linear" presStyleCnt="0">
        <dgm:presLayoutVars>
          <dgm:animLvl val="lvl"/>
          <dgm:resizeHandles val="exact"/>
        </dgm:presLayoutVars>
      </dgm:prSet>
      <dgm:spPr/>
    </dgm:pt>
    <dgm:pt modelId="{32D03392-391E-4839-8EB5-013097461D0E}" type="pres">
      <dgm:prSet presAssocID="{B0395D70-FCA4-4937-B6CF-1686D6F1EFDA}" presName="parentText" presStyleLbl="node1" presStyleIdx="0" presStyleCnt="1" custLinFactNeighborX="-654" custLinFactNeighborY="-1152">
        <dgm:presLayoutVars>
          <dgm:chMax val="0"/>
          <dgm:bulletEnabled val="1"/>
        </dgm:presLayoutVars>
      </dgm:prSet>
      <dgm:spPr/>
    </dgm:pt>
    <dgm:pt modelId="{C7BDEDE7-D574-40E6-ACA8-480E62D4B932}" type="pres">
      <dgm:prSet presAssocID="{B0395D70-FCA4-4937-B6CF-1686D6F1EFDA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408F5E08-F946-47C0-8AF6-ADEEA7B39890}" srcId="{B0395D70-FCA4-4937-B6CF-1686D6F1EFDA}" destId="{4401B18D-86FC-46AA-9B0A-1E91FF8402EE}" srcOrd="4" destOrd="0" parTransId="{98DE9404-F0EC-4B6A-B3FD-C1B223E88A3E}" sibTransId="{EE106597-1346-49B8-8CA0-C6CA97134DEF}"/>
    <dgm:cxn modelId="{483DEE1A-6234-4216-BB49-9D1D40A69C91}" type="presOf" srcId="{7BFB2FD6-7A2D-4B7B-BE0F-255D0B1D002F}" destId="{C7BDEDE7-D574-40E6-ACA8-480E62D4B932}" srcOrd="0" destOrd="0" presId="urn:microsoft.com/office/officeart/2005/8/layout/vList2"/>
    <dgm:cxn modelId="{82384664-DCAC-4A59-99E2-DF1CABBDE736}" srcId="{E45CCEE6-8B32-4E58-9C70-E538D2E0C6A7}" destId="{B0395D70-FCA4-4937-B6CF-1686D6F1EFDA}" srcOrd="0" destOrd="0" parTransId="{E0596734-419E-45E8-BBCA-1F638C3B4B23}" sibTransId="{B9D62BE5-6B6E-486A-82F0-B3C9C05372FC}"/>
    <dgm:cxn modelId="{3AA45868-1E55-493B-A9A4-FD4AD2A13C34}" type="presOf" srcId="{E45CCEE6-8B32-4E58-9C70-E538D2E0C6A7}" destId="{ECC4D621-7794-4704-BBE8-0997E8BEDD98}" srcOrd="0" destOrd="0" presId="urn:microsoft.com/office/officeart/2005/8/layout/vList2"/>
    <dgm:cxn modelId="{77EB466C-D0ED-4ACA-924F-3ECB7278449B}" type="presOf" srcId="{0D7283AD-B338-409C-BE87-367D06561D21}" destId="{C7BDEDE7-D574-40E6-ACA8-480E62D4B932}" srcOrd="0" destOrd="3" presId="urn:microsoft.com/office/officeart/2005/8/layout/vList2"/>
    <dgm:cxn modelId="{144D0471-C66B-4845-B026-3F1E8D8A0949}" type="presOf" srcId="{B0395D70-FCA4-4937-B6CF-1686D6F1EFDA}" destId="{32D03392-391E-4839-8EB5-013097461D0E}" srcOrd="0" destOrd="0" presId="urn:microsoft.com/office/officeart/2005/8/layout/vList2"/>
    <dgm:cxn modelId="{5CA47557-DA76-4622-801E-A1B8DC3EF5AB}" srcId="{B0395D70-FCA4-4937-B6CF-1686D6F1EFDA}" destId="{BA762991-714F-429D-8420-7648ED16B394}" srcOrd="1" destOrd="0" parTransId="{6202E46F-7085-4A54-8A59-22BAE938A0F2}" sibTransId="{1B86A8E7-36E0-4284-A0DB-0BCDBE719D56}"/>
    <dgm:cxn modelId="{A596118C-8B41-4CC2-8633-03DDF8782672}" type="presOf" srcId="{4401B18D-86FC-46AA-9B0A-1E91FF8402EE}" destId="{C7BDEDE7-D574-40E6-ACA8-480E62D4B932}" srcOrd="0" destOrd="4" presId="urn:microsoft.com/office/officeart/2005/8/layout/vList2"/>
    <dgm:cxn modelId="{CBF8AC93-AA87-404A-A4A5-E8C170323D9E}" srcId="{B0395D70-FCA4-4937-B6CF-1686D6F1EFDA}" destId="{0D7283AD-B338-409C-BE87-367D06561D21}" srcOrd="3" destOrd="0" parTransId="{09AD2C3A-6492-4861-8A25-229191598AEE}" sibTransId="{B6F6A6DD-8D05-4DBE-95F4-4FBF82B1B9C9}"/>
    <dgm:cxn modelId="{0847A3B5-A6D9-4C60-9B92-AC7771DB7965}" srcId="{B0395D70-FCA4-4937-B6CF-1686D6F1EFDA}" destId="{C5510764-3A82-4218-A619-C133419DCDFC}" srcOrd="2" destOrd="0" parTransId="{0922CCDD-B913-4A8A-ADEE-75D62F93D5B2}" sibTransId="{A8889438-5C66-4E0D-B231-E5590466C4C9}"/>
    <dgm:cxn modelId="{0C4EC2B9-6E90-4FD1-80F3-515348B4E654}" srcId="{B0395D70-FCA4-4937-B6CF-1686D6F1EFDA}" destId="{7BFB2FD6-7A2D-4B7B-BE0F-255D0B1D002F}" srcOrd="0" destOrd="0" parTransId="{B75D827D-A1E5-4B05-9C9D-DB2A172D7963}" sibTransId="{2643CFF8-7C2E-48A6-8B42-A4E22D0B728E}"/>
    <dgm:cxn modelId="{57AA1BE2-6ED9-4547-BD4F-BE93D403D675}" type="presOf" srcId="{C5510764-3A82-4218-A619-C133419DCDFC}" destId="{C7BDEDE7-D574-40E6-ACA8-480E62D4B932}" srcOrd="0" destOrd="2" presId="urn:microsoft.com/office/officeart/2005/8/layout/vList2"/>
    <dgm:cxn modelId="{D9CD9DE3-9A6E-420B-82CF-301DEBA957B3}" type="presOf" srcId="{BA762991-714F-429D-8420-7648ED16B394}" destId="{C7BDEDE7-D574-40E6-ACA8-480E62D4B932}" srcOrd="0" destOrd="1" presId="urn:microsoft.com/office/officeart/2005/8/layout/vList2"/>
    <dgm:cxn modelId="{5C8F039B-512D-4A75-B780-A4EE8B17DD05}" type="presParOf" srcId="{ECC4D621-7794-4704-BBE8-0997E8BEDD98}" destId="{32D03392-391E-4839-8EB5-013097461D0E}" srcOrd="0" destOrd="0" presId="urn:microsoft.com/office/officeart/2005/8/layout/vList2"/>
    <dgm:cxn modelId="{E3E8DF17-6DDD-47C2-AC95-A13AD4D8153D}" type="presParOf" srcId="{ECC4D621-7794-4704-BBE8-0997E8BEDD98}" destId="{C7BDEDE7-D574-40E6-ACA8-480E62D4B932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9EFECF-BEF2-4EAA-9192-82EF8C374FCC}">
      <dsp:nvSpPr>
        <dsp:cNvPr id="0" name=""/>
        <dsp:cNvSpPr/>
      </dsp:nvSpPr>
      <dsp:spPr>
        <a:xfrm>
          <a:off x="0" y="689"/>
          <a:ext cx="6797675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28FB3E-C3C4-4B45-A174-6720773E30CE}">
      <dsp:nvSpPr>
        <dsp:cNvPr id="0" name=""/>
        <dsp:cNvSpPr/>
      </dsp:nvSpPr>
      <dsp:spPr>
        <a:xfrm>
          <a:off x="488194" y="363809"/>
          <a:ext cx="887626" cy="8876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61604A-ABA4-457A-B1CD-436F17A5DF19}">
      <dsp:nvSpPr>
        <dsp:cNvPr id="0" name=""/>
        <dsp:cNvSpPr/>
      </dsp:nvSpPr>
      <dsp:spPr>
        <a:xfrm>
          <a:off x="1864015" y="689"/>
          <a:ext cx="4933659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b="0" i="0" kern="1200" baseline="0" dirty="0"/>
            <a:t>Le piattaforme e-commerce e i servizi di streaming offrono </a:t>
          </a:r>
          <a:r>
            <a:rPr lang="it-IT" sz="2200" b="1" i="0" kern="1200" baseline="0" dirty="0"/>
            <a:t>cataloghi vastissimi</a:t>
          </a:r>
          <a:r>
            <a:rPr lang="it-IT" sz="2200" b="0" i="0" kern="1200" baseline="0" dirty="0"/>
            <a:t> di prodotti e contenuti.</a:t>
          </a:r>
          <a:endParaRPr lang="en-US" sz="2200" kern="1200" dirty="0"/>
        </a:p>
      </dsp:txBody>
      <dsp:txXfrm>
        <a:off x="1864015" y="689"/>
        <a:ext cx="4933659" cy="1613866"/>
      </dsp:txXfrm>
    </dsp:sp>
    <dsp:sp modelId="{14610FE8-D0E1-4702-A9FD-5E0AAAEE22CC}">
      <dsp:nvSpPr>
        <dsp:cNvPr id="0" name=""/>
        <dsp:cNvSpPr/>
      </dsp:nvSpPr>
      <dsp:spPr>
        <a:xfrm>
          <a:off x="0" y="2018022"/>
          <a:ext cx="6797675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14196B-A636-4E12-ADF8-D15338B707A7}">
      <dsp:nvSpPr>
        <dsp:cNvPr id="0" name=""/>
        <dsp:cNvSpPr/>
      </dsp:nvSpPr>
      <dsp:spPr>
        <a:xfrm>
          <a:off x="488194" y="2381142"/>
          <a:ext cx="887626" cy="8876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B13222-D9F5-43F4-A65A-B7D46626B3DC}">
      <dsp:nvSpPr>
        <dsp:cNvPr id="0" name=""/>
        <dsp:cNvSpPr/>
      </dsp:nvSpPr>
      <dsp:spPr>
        <a:xfrm>
          <a:off x="1864015" y="2018022"/>
          <a:ext cx="4933659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b="0" i="0" kern="1200" baseline="0"/>
            <a:t>Gli utenti sono esposti a una </a:t>
          </a:r>
          <a:r>
            <a:rPr lang="it-IT" sz="2200" b="1" i="0" kern="1200" baseline="0"/>
            <a:t>quantità enorme di informazioni</a:t>
          </a:r>
          <a:r>
            <a:rPr lang="it-IT" sz="2200" b="0" i="0" kern="1200" baseline="0"/>
            <a:t>.</a:t>
          </a:r>
          <a:endParaRPr lang="en-US" sz="2200" kern="1200"/>
        </a:p>
      </dsp:txBody>
      <dsp:txXfrm>
        <a:off x="1864015" y="2018022"/>
        <a:ext cx="4933659" cy="1613866"/>
      </dsp:txXfrm>
    </dsp:sp>
    <dsp:sp modelId="{3DBAFDC8-8A8A-4F26-95AE-AADE9D8BB1EE}">
      <dsp:nvSpPr>
        <dsp:cNvPr id="0" name=""/>
        <dsp:cNvSpPr/>
      </dsp:nvSpPr>
      <dsp:spPr>
        <a:xfrm>
          <a:off x="0" y="4035355"/>
          <a:ext cx="6797675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9327C4-CD9B-478B-B107-059AD6C9C8D3}">
      <dsp:nvSpPr>
        <dsp:cNvPr id="0" name=""/>
        <dsp:cNvSpPr/>
      </dsp:nvSpPr>
      <dsp:spPr>
        <a:xfrm>
          <a:off x="488194" y="4398475"/>
          <a:ext cx="887626" cy="8876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1D295E-9626-4B15-A1F0-0256319FC27A}">
      <dsp:nvSpPr>
        <dsp:cNvPr id="0" name=""/>
        <dsp:cNvSpPr/>
      </dsp:nvSpPr>
      <dsp:spPr>
        <a:xfrm>
          <a:off x="1864015" y="4035355"/>
          <a:ext cx="4933659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b="0" i="0" kern="1200" baseline="0"/>
            <a:t>Fenomeno dell’</a:t>
          </a:r>
          <a:r>
            <a:rPr lang="it-IT" sz="2200" b="1" i="0" kern="1200" baseline="0"/>
            <a:t>Information Overload</a:t>
          </a:r>
          <a:r>
            <a:rPr lang="it-IT" sz="2200" b="0" i="0" kern="1200" baseline="0"/>
            <a:t>:</a:t>
          </a:r>
          <a:br>
            <a:rPr lang="it-IT" sz="2200" b="0" i="0" kern="1200" baseline="0"/>
          </a:br>
          <a:r>
            <a:rPr lang="it-IT" sz="2200" b="0" i="0" kern="1200" baseline="0"/>
            <a:t>difficoltà nel </a:t>
          </a:r>
          <a:r>
            <a:rPr lang="it-IT" sz="2200" b="1" i="0" kern="1200" baseline="0"/>
            <a:t>scegliere</a:t>
          </a:r>
          <a:r>
            <a:rPr lang="it-IT" sz="2200" b="0" i="0" kern="1200" baseline="0"/>
            <a:t>, </a:t>
          </a:r>
          <a:r>
            <a:rPr lang="it-IT" sz="2200" b="1" i="0" kern="1200" baseline="0"/>
            <a:t>filtrare</a:t>
          </a:r>
          <a:r>
            <a:rPr lang="it-IT" sz="2200" b="0" i="0" kern="1200" baseline="0"/>
            <a:t> e </a:t>
          </a:r>
          <a:r>
            <a:rPr lang="it-IT" sz="2200" b="1" i="0" kern="1200" baseline="0"/>
            <a:t>trovare</a:t>
          </a:r>
          <a:r>
            <a:rPr lang="it-IT" sz="2200" b="0" i="0" kern="1200" baseline="0"/>
            <a:t> ciò che è davvero rilevante.</a:t>
          </a:r>
          <a:endParaRPr lang="en-US" sz="2200" kern="1200" dirty="0"/>
        </a:p>
      </dsp:txBody>
      <dsp:txXfrm>
        <a:off x="1864015" y="4035355"/>
        <a:ext cx="4933659" cy="16138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AE184D-0F26-4D8B-B7C6-93D1ACE139AD}">
      <dsp:nvSpPr>
        <dsp:cNvPr id="0" name=""/>
        <dsp:cNvSpPr/>
      </dsp:nvSpPr>
      <dsp:spPr>
        <a:xfrm>
          <a:off x="0" y="566624"/>
          <a:ext cx="10058399" cy="11358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220E77-939E-4F2A-843A-3644FECB55A4}">
      <dsp:nvSpPr>
        <dsp:cNvPr id="0" name=""/>
        <dsp:cNvSpPr/>
      </dsp:nvSpPr>
      <dsp:spPr>
        <a:xfrm>
          <a:off x="343586" y="870798"/>
          <a:ext cx="624703" cy="6247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4942F8-88FD-43AC-9E38-ED93F854FD98}">
      <dsp:nvSpPr>
        <dsp:cNvPr id="0" name=""/>
        <dsp:cNvSpPr/>
      </dsp:nvSpPr>
      <dsp:spPr>
        <a:xfrm>
          <a:off x="1311876" y="615237"/>
          <a:ext cx="8746523" cy="1135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208" tIns="120208" rIns="120208" bIns="120208" numCol="1" spcCol="1270" anchor="ctr" anchorCtr="0">
          <a:noAutofit/>
        </a:bodyPr>
        <a:lstStyle/>
        <a:p>
          <a:pPr marL="0" lvl="0" indent="0" algn="just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ESIGENZA</a:t>
          </a:r>
          <a:r>
            <a:rPr lang="en-US" sz="2500" kern="1200" dirty="0"/>
            <a:t>: Un </a:t>
          </a:r>
          <a:r>
            <a:rPr lang="en-US" sz="2500" kern="1200" dirty="0" err="1"/>
            <a:t>buon</a:t>
          </a:r>
          <a:r>
            <a:rPr lang="en-US" sz="2500" kern="1200" dirty="0"/>
            <a:t> </a:t>
          </a:r>
          <a:r>
            <a:rPr lang="en-US" sz="2500" kern="1200" dirty="0" err="1"/>
            <a:t>sistema</a:t>
          </a:r>
          <a:r>
            <a:rPr lang="en-US" sz="2500" kern="1200" dirty="0"/>
            <a:t> di </a:t>
          </a:r>
          <a:r>
            <a:rPr lang="en-US" sz="2500" kern="1200" dirty="0" err="1"/>
            <a:t>raccomandazione</a:t>
          </a:r>
          <a:r>
            <a:rPr lang="en-US" sz="2500" kern="1200" dirty="0"/>
            <a:t> </a:t>
          </a:r>
          <a:r>
            <a:rPr lang="en-US" sz="2500" kern="1200" dirty="0" err="1"/>
            <a:t>parte</a:t>
          </a:r>
          <a:r>
            <a:rPr lang="en-US" sz="2500" kern="1200" dirty="0"/>
            <a:t> </a:t>
          </a:r>
          <a:r>
            <a:rPr lang="en-US" sz="2500" kern="1200" dirty="0" err="1"/>
            <a:t>dalla</a:t>
          </a:r>
          <a:r>
            <a:rPr lang="en-US" sz="2500" kern="1200" dirty="0"/>
            <a:t> </a:t>
          </a:r>
          <a:r>
            <a:rPr lang="en-US" sz="2500" kern="1200" dirty="0" err="1"/>
            <a:t>capacità</a:t>
          </a:r>
          <a:r>
            <a:rPr lang="en-US" sz="2500" kern="1200" dirty="0"/>
            <a:t> di </a:t>
          </a:r>
          <a:r>
            <a:rPr lang="en-US" sz="2500" kern="1200" dirty="0" err="1"/>
            <a:t>rappresentare</a:t>
          </a:r>
          <a:r>
            <a:rPr lang="en-US" sz="2500" kern="1200" dirty="0"/>
            <a:t> in modo </a:t>
          </a:r>
          <a:r>
            <a:rPr lang="en-US" sz="2500" kern="1200" dirty="0" err="1"/>
            <a:t>efficace</a:t>
          </a:r>
          <a:r>
            <a:rPr lang="en-US" sz="2500" kern="1200" dirty="0"/>
            <a:t> </a:t>
          </a:r>
          <a:r>
            <a:rPr lang="en-US" sz="2500" kern="1200" dirty="0" err="1"/>
            <a:t>gli</a:t>
          </a:r>
          <a:r>
            <a:rPr lang="en-US" sz="2500" kern="1200" dirty="0"/>
            <a:t> </a:t>
          </a:r>
          <a:r>
            <a:rPr lang="en-US" sz="2500" b="1" kern="1200" dirty="0" err="1"/>
            <a:t>oggetti</a:t>
          </a:r>
          <a:r>
            <a:rPr lang="en-US" sz="2500" kern="1200" dirty="0"/>
            <a:t>.</a:t>
          </a:r>
        </a:p>
      </dsp:txBody>
      <dsp:txXfrm>
        <a:off x="1311876" y="615237"/>
        <a:ext cx="8746523" cy="1135824"/>
      </dsp:txXfrm>
    </dsp:sp>
    <dsp:sp modelId="{07F2E6FD-788B-4BDE-AB2C-CCDA66C23627}">
      <dsp:nvSpPr>
        <dsp:cNvPr id="0" name=""/>
        <dsp:cNvSpPr/>
      </dsp:nvSpPr>
      <dsp:spPr>
        <a:xfrm>
          <a:off x="0" y="2035018"/>
          <a:ext cx="10058399" cy="11358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AE9D1C-448E-47DF-8060-593986949D17}">
      <dsp:nvSpPr>
        <dsp:cNvPr id="0" name=""/>
        <dsp:cNvSpPr/>
      </dsp:nvSpPr>
      <dsp:spPr>
        <a:xfrm>
          <a:off x="343586" y="2290578"/>
          <a:ext cx="624703" cy="6247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248C36-55DB-4152-8BBD-E8655DE8DE5A}">
      <dsp:nvSpPr>
        <dsp:cNvPr id="0" name=""/>
        <dsp:cNvSpPr/>
      </dsp:nvSpPr>
      <dsp:spPr>
        <a:xfrm>
          <a:off x="1311876" y="2035018"/>
          <a:ext cx="8746523" cy="1135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208" tIns="120208" rIns="120208" bIns="120208" numCol="1" spcCol="1270" anchor="ctr" anchorCtr="0">
          <a:noAutofit/>
        </a:bodyPr>
        <a:lstStyle/>
        <a:p>
          <a:pPr marL="0" lvl="0" indent="0" algn="just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COME?</a:t>
          </a:r>
          <a:r>
            <a:rPr lang="en-US" sz="2400" kern="1200" dirty="0"/>
            <a:t>: Un </a:t>
          </a:r>
          <a:r>
            <a:rPr lang="en-US" sz="2400" kern="1200" dirty="0" err="1"/>
            <a:t>oggetto</a:t>
          </a:r>
          <a:r>
            <a:rPr lang="en-US" sz="2400" kern="1200" dirty="0"/>
            <a:t> </a:t>
          </a:r>
          <a:r>
            <a:rPr lang="en-US" sz="2400" kern="1200" dirty="0" err="1"/>
            <a:t>può</a:t>
          </a:r>
          <a:r>
            <a:rPr lang="en-US" sz="2400" kern="1200" dirty="0"/>
            <a:t> </a:t>
          </a:r>
          <a:r>
            <a:rPr lang="en-US" sz="2400" kern="1200" dirty="0" err="1"/>
            <a:t>essere</a:t>
          </a:r>
          <a:r>
            <a:rPr lang="en-US" sz="2400" kern="1200" dirty="0"/>
            <a:t> </a:t>
          </a:r>
          <a:r>
            <a:rPr lang="en-US" sz="2400" kern="1200" dirty="0" err="1"/>
            <a:t>rappresentato</a:t>
          </a:r>
          <a:r>
            <a:rPr lang="en-US" sz="2400" kern="1200" dirty="0"/>
            <a:t> secondo </a:t>
          </a:r>
          <a:r>
            <a:rPr lang="en-US" sz="2400" b="1" kern="1200" dirty="0"/>
            <a:t>diverse </a:t>
          </a:r>
          <a:r>
            <a:rPr lang="en-US" sz="2400" b="1" kern="1200" dirty="0" err="1"/>
            <a:t>fonti</a:t>
          </a:r>
          <a:r>
            <a:rPr lang="en-US" sz="2400" b="1" kern="1200" dirty="0"/>
            <a:t> di </a:t>
          </a:r>
          <a:r>
            <a:rPr lang="en-US" sz="2400" b="1" kern="1200" dirty="0" err="1"/>
            <a:t>informazione</a:t>
          </a:r>
          <a:r>
            <a:rPr lang="en-US" sz="2400" kern="1200" dirty="0"/>
            <a:t>. </a:t>
          </a:r>
        </a:p>
      </dsp:txBody>
      <dsp:txXfrm>
        <a:off x="1311876" y="2035018"/>
        <a:ext cx="8746523" cy="11358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56A2FC-48D6-46A4-B84E-A63F3F7D3EB6}">
      <dsp:nvSpPr>
        <dsp:cNvPr id="0" name=""/>
        <dsp:cNvSpPr/>
      </dsp:nvSpPr>
      <dsp:spPr>
        <a:xfrm>
          <a:off x="0" y="0"/>
          <a:ext cx="8549640" cy="1135824"/>
        </a:xfrm>
        <a:prstGeom prst="roundRect">
          <a:avLst>
            <a:gd name="adj" fmla="val 10000"/>
          </a:avLst>
        </a:prstGeom>
        <a:solidFill>
          <a:schemeClr val="accent2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900" b="0" kern="120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Per ogni tecnica: confronto a due a due tra ciascun film del campione e il resto del dataset.</a:t>
          </a:r>
          <a:endParaRPr lang="en-US" sz="2900" b="0" kern="1200" cap="none" spc="0" dirty="0">
            <a:ln w="0"/>
            <a:solidFill>
              <a:schemeClr val="accent1"/>
            </a:solidFill>
            <a:effectLst>
              <a:outerShdw blurRad="38100" dist="25400" dir="5400000" algn="ctr" rotWithShape="0">
                <a:srgbClr val="6E747A">
                  <a:alpha val="43000"/>
                </a:srgbClr>
              </a:outerShdw>
            </a:effectLst>
          </a:endParaRPr>
        </a:p>
      </dsp:txBody>
      <dsp:txXfrm>
        <a:off x="33267" y="33267"/>
        <a:ext cx="7323997" cy="1069290"/>
      </dsp:txXfrm>
    </dsp:sp>
    <dsp:sp modelId="{51B0A2CC-6540-42BC-85E4-4C3B03F038B1}">
      <dsp:nvSpPr>
        <dsp:cNvPr id="0" name=""/>
        <dsp:cNvSpPr/>
      </dsp:nvSpPr>
      <dsp:spPr>
        <a:xfrm>
          <a:off x="754379" y="1325127"/>
          <a:ext cx="8549640" cy="1135824"/>
        </a:xfrm>
        <a:prstGeom prst="roundRect">
          <a:avLst>
            <a:gd name="adj" fmla="val 10000"/>
          </a:avLst>
        </a:prstGeom>
        <a:solidFill>
          <a:schemeClr val="accent2">
            <a:lumMod val="7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900" kern="1200" dirty="0"/>
            <a:t>Utilizzo della similarità del coseno per il confronto</a:t>
          </a:r>
          <a:endParaRPr lang="en-US" sz="2900" kern="1200" dirty="0"/>
        </a:p>
      </dsp:txBody>
      <dsp:txXfrm>
        <a:off x="787646" y="1358394"/>
        <a:ext cx="6990440" cy="1069290"/>
      </dsp:txXfrm>
    </dsp:sp>
    <dsp:sp modelId="{9849E1EE-5AF3-4831-A72E-129CF014F6D7}">
      <dsp:nvSpPr>
        <dsp:cNvPr id="0" name=""/>
        <dsp:cNvSpPr/>
      </dsp:nvSpPr>
      <dsp:spPr>
        <a:xfrm>
          <a:off x="1508759" y="2650255"/>
          <a:ext cx="8549640" cy="1135824"/>
        </a:xfrm>
        <a:prstGeom prst="roundRect">
          <a:avLst>
            <a:gd name="adj" fmla="val 10000"/>
          </a:avLst>
        </a:prstGeom>
        <a:solidFill>
          <a:schemeClr val="accent2">
            <a:lumMod val="5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900" kern="1200"/>
            <a:t>Analisi limitata ai primi dieci risultati raccomandati</a:t>
          </a:r>
          <a:endParaRPr lang="en-US" sz="2900" kern="1200"/>
        </a:p>
      </dsp:txBody>
      <dsp:txXfrm>
        <a:off x="1542026" y="2683522"/>
        <a:ext cx="6990440" cy="1069290"/>
      </dsp:txXfrm>
    </dsp:sp>
    <dsp:sp modelId="{0403C9FE-CD6A-4847-AA07-25FB50DC1A51}">
      <dsp:nvSpPr>
        <dsp:cNvPr id="0" name=""/>
        <dsp:cNvSpPr/>
      </dsp:nvSpPr>
      <dsp:spPr>
        <a:xfrm>
          <a:off x="7811354" y="861333"/>
          <a:ext cx="738285" cy="73828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7977468" y="861333"/>
        <a:ext cx="406057" cy="555559"/>
      </dsp:txXfrm>
    </dsp:sp>
    <dsp:sp modelId="{048C7416-1B57-453A-948F-34B87A8B409B}">
      <dsp:nvSpPr>
        <dsp:cNvPr id="0" name=""/>
        <dsp:cNvSpPr/>
      </dsp:nvSpPr>
      <dsp:spPr>
        <a:xfrm>
          <a:off x="8565734" y="2178889"/>
          <a:ext cx="738285" cy="738285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8731848" y="2178889"/>
        <a:ext cx="406057" cy="55555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D3750A-398E-4879-A950-4CEA155523E2}">
      <dsp:nvSpPr>
        <dsp:cNvPr id="0" name=""/>
        <dsp:cNvSpPr/>
      </dsp:nvSpPr>
      <dsp:spPr>
        <a:xfrm>
          <a:off x="0" y="689"/>
          <a:ext cx="679767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F4578A-99EE-44B5-B89C-1AF53084E570}">
      <dsp:nvSpPr>
        <dsp:cNvPr id="0" name=""/>
        <dsp:cNvSpPr/>
      </dsp:nvSpPr>
      <dsp:spPr>
        <a:xfrm>
          <a:off x="0" y="689"/>
          <a:ext cx="6797675" cy="1129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100" kern="1200" dirty="0" err="1"/>
            <a:t>Recommender</a:t>
          </a:r>
          <a:r>
            <a:rPr lang="it-IT" sz="3100" kern="1200" dirty="0"/>
            <a:t> semplice basato su </a:t>
          </a:r>
          <a:r>
            <a:rPr lang="it-IT" sz="3100" kern="1200" dirty="0" err="1"/>
            <a:t>centroide</a:t>
          </a:r>
          <a:endParaRPr lang="en-US" sz="3100" kern="1200" dirty="0"/>
        </a:p>
      </dsp:txBody>
      <dsp:txXfrm>
        <a:off x="0" y="689"/>
        <a:ext cx="6797675" cy="1129706"/>
      </dsp:txXfrm>
    </dsp:sp>
    <dsp:sp modelId="{1ED94EBB-52CE-4601-B2D1-F9D6232C1D20}">
      <dsp:nvSpPr>
        <dsp:cNvPr id="0" name=""/>
        <dsp:cNvSpPr/>
      </dsp:nvSpPr>
      <dsp:spPr>
        <a:xfrm>
          <a:off x="0" y="1130396"/>
          <a:ext cx="6797675" cy="0"/>
        </a:xfrm>
        <a:prstGeom prst="line">
          <a:avLst/>
        </a:prstGeom>
        <a:solidFill>
          <a:schemeClr val="accent2">
            <a:hueOff val="-331082"/>
            <a:satOff val="-243"/>
            <a:lumOff val="3334"/>
            <a:alphaOff val="0"/>
          </a:schemeClr>
        </a:solidFill>
        <a:ln w="15875" cap="flat" cmpd="sng" algn="ctr">
          <a:solidFill>
            <a:schemeClr val="accent2">
              <a:hueOff val="-331082"/>
              <a:satOff val="-243"/>
              <a:lumOff val="333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4D88F6-71A4-4EC0-9927-B0F1328EFAB3}">
      <dsp:nvSpPr>
        <dsp:cNvPr id="0" name=""/>
        <dsp:cNvSpPr/>
      </dsp:nvSpPr>
      <dsp:spPr>
        <a:xfrm>
          <a:off x="0" y="1130396"/>
          <a:ext cx="6797675" cy="1129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100" kern="1200" dirty="0"/>
            <a:t>Liste generate tramite similarità del coseno</a:t>
          </a:r>
          <a:endParaRPr lang="en-US" sz="3100" kern="1200" dirty="0"/>
        </a:p>
      </dsp:txBody>
      <dsp:txXfrm>
        <a:off x="0" y="1130396"/>
        <a:ext cx="6797675" cy="1129706"/>
      </dsp:txXfrm>
    </dsp:sp>
    <dsp:sp modelId="{477A0F4B-6142-4E97-AD12-3230BFE00423}">
      <dsp:nvSpPr>
        <dsp:cNvPr id="0" name=""/>
        <dsp:cNvSpPr/>
      </dsp:nvSpPr>
      <dsp:spPr>
        <a:xfrm>
          <a:off x="0" y="2260102"/>
          <a:ext cx="6797675" cy="0"/>
        </a:xfrm>
        <a:prstGeom prst="line">
          <a:avLst/>
        </a:prstGeom>
        <a:solidFill>
          <a:schemeClr val="accent2">
            <a:hueOff val="-662163"/>
            <a:satOff val="-487"/>
            <a:lumOff val="6667"/>
            <a:alphaOff val="0"/>
          </a:schemeClr>
        </a:solidFill>
        <a:ln w="15875" cap="flat" cmpd="sng" algn="ctr">
          <a:solidFill>
            <a:schemeClr val="accent2">
              <a:hueOff val="-662163"/>
              <a:satOff val="-487"/>
              <a:lumOff val="666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9E70CB-6007-4927-A738-90F3BCB1C61A}">
      <dsp:nvSpPr>
        <dsp:cNvPr id="0" name=""/>
        <dsp:cNvSpPr/>
      </dsp:nvSpPr>
      <dsp:spPr>
        <a:xfrm>
          <a:off x="0" y="2260102"/>
          <a:ext cx="6797675" cy="1129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100" kern="1200" dirty="0"/>
            <a:t>Ogni lista → ottenuta tramite una fonte informativa specifica</a:t>
          </a:r>
          <a:endParaRPr lang="en-US" sz="3100" kern="1200" dirty="0"/>
        </a:p>
      </dsp:txBody>
      <dsp:txXfrm>
        <a:off x="0" y="2260102"/>
        <a:ext cx="6797675" cy="1129706"/>
      </dsp:txXfrm>
    </dsp:sp>
    <dsp:sp modelId="{D1FD2B55-B8EC-4ECA-8EF0-A166641BE765}">
      <dsp:nvSpPr>
        <dsp:cNvPr id="0" name=""/>
        <dsp:cNvSpPr/>
      </dsp:nvSpPr>
      <dsp:spPr>
        <a:xfrm>
          <a:off x="0" y="3389809"/>
          <a:ext cx="6797675" cy="0"/>
        </a:xfrm>
        <a:prstGeom prst="line">
          <a:avLst/>
        </a:prstGeom>
        <a:solidFill>
          <a:schemeClr val="accent2">
            <a:hueOff val="-993245"/>
            <a:satOff val="-730"/>
            <a:lumOff val="10001"/>
            <a:alphaOff val="0"/>
          </a:schemeClr>
        </a:solidFill>
        <a:ln w="15875" cap="flat" cmpd="sng" algn="ctr">
          <a:solidFill>
            <a:schemeClr val="accent2">
              <a:hueOff val="-993245"/>
              <a:satOff val="-730"/>
              <a:lumOff val="1000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6409CB-1815-48C6-8EBE-757262A3F4E9}">
      <dsp:nvSpPr>
        <dsp:cNvPr id="0" name=""/>
        <dsp:cNvSpPr/>
      </dsp:nvSpPr>
      <dsp:spPr>
        <a:xfrm>
          <a:off x="0" y="3389809"/>
          <a:ext cx="6797675" cy="1129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100" kern="1200" dirty="0"/>
            <a:t>Ordine di visualizzazione delle liste casuale</a:t>
          </a:r>
          <a:endParaRPr lang="en-US" sz="3100" kern="1200" dirty="0"/>
        </a:p>
      </dsp:txBody>
      <dsp:txXfrm>
        <a:off x="0" y="3389809"/>
        <a:ext cx="6797675" cy="1129706"/>
      </dsp:txXfrm>
    </dsp:sp>
    <dsp:sp modelId="{360D9896-39F3-4971-A9BB-90718D7A738A}">
      <dsp:nvSpPr>
        <dsp:cNvPr id="0" name=""/>
        <dsp:cNvSpPr/>
      </dsp:nvSpPr>
      <dsp:spPr>
        <a:xfrm>
          <a:off x="0" y="4519515"/>
          <a:ext cx="6797675" cy="0"/>
        </a:xfrm>
        <a:prstGeom prst="line">
          <a:avLst/>
        </a:prstGeom>
        <a:solidFill>
          <a:schemeClr val="accent2">
            <a:hueOff val="-1324327"/>
            <a:satOff val="-973"/>
            <a:lumOff val="13334"/>
            <a:alphaOff val="0"/>
          </a:schemeClr>
        </a:solidFill>
        <a:ln w="15875" cap="flat" cmpd="sng" algn="ctr">
          <a:solidFill>
            <a:schemeClr val="accent2">
              <a:hueOff val="-1324327"/>
              <a:satOff val="-973"/>
              <a:lumOff val="1333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F55725-AA74-449E-B12A-E2330F63B9CC}">
      <dsp:nvSpPr>
        <dsp:cNvPr id="0" name=""/>
        <dsp:cNvSpPr/>
      </dsp:nvSpPr>
      <dsp:spPr>
        <a:xfrm>
          <a:off x="0" y="4519515"/>
          <a:ext cx="6797675" cy="1129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100" kern="1200" dirty="0"/>
            <a:t>Valutazione di ogni singola lista tramite questionario</a:t>
          </a:r>
          <a:endParaRPr lang="en-US" sz="3100" kern="1200" dirty="0"/>
        </a:p>
      </dsp:txBody>
      <dsp:txXfrm>
        <a:off x="0" y="4519515"/>
        <a:ext cx="6797675" cy="112970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56A2FC-48D6-46A4-B84E-A63F3F7D3EB6}">
      <dsp:nvSpPr>
        <dsp:cNvPr id="0" name=""/>
        <dsp:cNvSpPr/>
      </dsp:nvSpPr>
      <dsp:spPr>
        <a:xfrm>
          <a:off x="20451" y="0"/>
          <a:ext cx="9468196" cy="1241367"/>
        </a:xfrm>
        <a:prstGeom prst="roundRect">
          <a:avLst>
            <a:gd name="adj" fmla="val 10000"/>
          </a:avLst>
        </a:prstGeom>
        <a:solidFill>
          <a:schemeClr val="accent2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1. </a:t>
          </a:r>
          <a:r>
            <a:rPr lang="en-US" sz="2500" b="1" kern="1200" cap="none" spc="0" dirty="0" err="1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Costruzione</a:t>
          </a:r>
          <a:r>
            <a:rPr lang="en-US" sz="2500" b="1" kern="120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 </a:t>
          </a:r>
          <a:r>
            <a:rPr lang="en-US" sz="2500" b="1" kern="1200" cap="none" spc="0" dirty="0" err="1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Profilo</a:t>
          </a:r>
          <a:r>
            <a:rPr lang="en-US" sz="2500" b="1" kern="120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 </a:t>
          </a:r>
          <a:r>
            <a:rPr lang="en-US" sz="2500" b="1" kern="1200" cap="none" spc="0" dirty="0" err="1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Utente</a:t>
          </a:r>
          <a:r>
            <a:rPr lang="en-US" sz="2500" b="0" kern="120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: </a:t>
          </a:r>
          <a:r>
            <a:rPr lang="en-US" sz="2500" b="0" kern="1200" cap="none" spc="0" dirty="0" err="1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L’utente</a:t>
          </a:r>
          <a:r>
            <a:rPr lang="en-US" sz="2500" b="0" kern="120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 </a:t>
          </a:r>
          <a:r>
            <a:rPr lang="en-US" sz="2500" b="0" kern="1200" cap="none" spc="0" dirty="0" err="1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inserisce</a:t>
          </a:r>
          <a:r>
            <a:rPr lang="en-US" sz="2500" b="0" kern="120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 </a:t>
          </a:r>
          <a:r>
            <a:rPr lang="en-US" sz="2500" b="0" kern="1200" cap="none" spc="0" dirty="0" err="1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i</a:t>
          </a:r>
          <a:r>
            <a:rPr lang="en-US" sz="2500" b="0" kern="120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 </a:t>
          </a:r>
          <a:r>
            <a:rPr lang="en-US" sz="2500" b="0" kern="1200" cap="none" spc="0" dirty="0" err="1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propri</a:t>
          </a:r>
          <a:r>
            <a:rPr lang="en-US" sz="2500" b="0" kern="120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 film </a:t>
          </a:r>
          <a:r>
            <a:rPr lang="en-US" sz="2500" b="0" kern="1200" cap="none" spc="0" dirty="0" err="1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preferiti</a:t>
          </a:r>
          <a:r>
            <a:rPr lang="en-US" sz="2500" b="0" kern="120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 </a:t>
          </a:r>
          <a:r>
            <a:rPr lang="en-US" sz="2500" b="0" kern="1200" cap="none" spc="0" dirty="0" err="1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attraverso</a:t>
          </a:r>
          <a:r>
            <a:rPr lang="en-US" sz="2500" b="0" kern="120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 </a:t>
          </a:r>
          <a:r>
            <a:rPr lang="en-US" sz="2500" b="0" kern="1200" cap="none" spc="0" dirty="0" err="1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una</a:t>
          </a:r>
          <a:r>
            <a:rPr lang="en-US" sz="2500" b="0" kern="120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 </a:t>
          </a:r>
          <a:r>
            <a:rPr lang="en-US" sz="2500" b="0" kern="1200" cap="none" spc="0" dirty="0" err="1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barra</a:t>
          </a:r>
          <a:r>
            <a:rPr lang="en-US" sz="2500" b="0" kern="120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 di </a:t>
          </a:r>
          <a:r>
            <a:rPr lang="en-US" sz="2500" b="0" kern="1200" cap="none" spc="0" dirty="0" err="1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ricerca</a:t>
          </a:r>
          <a:endParaRPr lang="en-US" sz="2500" b="0" kern="1200" cap="none" spc="0" dirty="0">
            <a:ln w="0"/>
            <a:solidFill>
              <a:schemeClr val="accent1"/>
            </a:solidFill>
            <a:effectLst>
              <a:outerShdw blurRad="38100" dist="25400" dir="5400000" algn="ctr" rotWithShape="0">
                <a:srgbClr val="6E747A">
                  <a:alpha val="43000"/>
                </a:srgbClr>
              </a:outerShdw>
            </a:effectLst>
          </a:endParaRPr>
        </a:p>
      </dsp:txBody>
      <dsp:txXfrm>
        <a:off x="56809" y="36358"/>
        <a:ext cx="8128665" cy="1168651"/>
      </dsp:txXfrm>
    </dsp:sp>
    <dsp:sp modelId="{51B0A2CC-6540-42BC-85E4-4C3B03F038B1}">
      <dsp:nvSpPr>
        <dsp:cNvPr id="0" name=""/>
        <dsp:cNvSpPr/>
      </dsp:nvSpPr>
      <dsp:spPr>
        <a:xfrm>
          <a:off x="835429" y="1448262"/>
          <a:ext cx="9468196" cy="1241367"/>
        </a:xfrm>
        <a:prstGeom prst="roundRect">
          <a:avLst>
            <a:gd name="adj" fmla="val 10000"/>
          </a:avLst>
        </a:prstGeom>
        <a:solidFill>
          <a:schemeClr val="accent2">
            <a:lumMod val="7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500" b="1" kern="1200" dirty="0"/>
            <a:t>2. Generazione delle raccomandazioni</a:t>
          </a:r>
          <a:r>
            <a:rPr lang="it-IT" sz="2500" kern="1200" dirty="0"/>
            <a:t>: Il sistema genera una lista di raccomandazione per ciascuna tecnica</a:t>
          </a:r>
          <a:endParaRPr lang="en-US" sz="2500" kern="1200" dirty="0"/>
        </a:p>
      </dsp:txBody>
      <dsp:txXfrm>
        <a:off x="871787" y="1484620"/>
        <a:ext cx="7753162" cy="1168651"/>
      </dsp:txXfrm>
    </dsp:sp>
    <dsp:sp modelId="{9849E1EE-5AF3-4831-A72E-129CF014F6D7}">
      <dsp:nvSpPr>
        <dsp:cNvPr id="0" name=""/>
        <dsp:cNvSpPr/>
      </dsp:nvSpPr>
      <dsp:spPr>
        <a:xfrm>
          <a:off x="1670858" y="2896524"/>
          <a:ext cx="9468196" cy="1241367"/>
        </a:xfrm>
        <a:prstGeom prst="roundRect">
          <a:avLst>
            <a:gd name="adj" fmla="val 10000"/>
          </a:avLst>
        </a:prstGeom>
        <a:solidFill>
          <a:schemeClr val="accent2">
            <a:lumMod val="5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500" b="1" kern="1200" dirty="0"/>
            <a:t>3. Valutazione delle raccomandazioni: </a:t>
          </a:r>
          <a:r>
            <a:rPr lang="it-IT" sz="2500" b="0" kern="1200" dirty="0"/>
            <a:t>Per ogni lista un utente risponde a un questionario di valutazione </a:t>
          </a:r>
          <a:endParaRPr lang="en-US" sz="2500" b="0" kern="1200" dirty="0"/>
        </a:p>
      </dsp:txBody>
      <dsp:txXfrm>
        <a:off x="1707216" y="2932882"/>
        <a:ext cx="7753162" cy="1168651"/>
      </dsp:txXfrm>
    </dsp:sp>
    <dsp:sp modelId="{0403C9FE-CD6A-4847-AA07-25FB50DC1A51}">
      <dsp:nvSpPr>
        <dsp:cNvPr id="0" name=""/>
        <dsp:cNvSpPr/>
      </dsp:nvSpPr>
      <dsp:spPr>
        <a:xfrm>
          <a:off x="8661307" y="941370"/>
          <a:ext cx="806888" cy="80688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842857" y="941370"/>
        <a:ext cx="443788" cy="607183"/>
      </dsp:txXfrm>
    </dsp:sp>
    <dsp:sp modelId="{048C7416-1B57-453A-948F-34B87A8B409B}">
      <dsp:nvSpPr>
        <dsp:cNvPr id="0" name=""/>
        <dsp:cNvSpPr/>
      </dsp:nvSpPr>
      <dsp:spPr>
        <a:xfrm>
          <a:off x="9496736" y="2381356"/>
          <a:ext cx="806888" cy="806888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9678286" y="2381356"/>
        <a:ext cx="443788" cy="60718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D03392-391E-4839-8EB5-013097461D0E}">
      <dsp:nvSpPr>
        <dsp:cNvPr id="0" name=""/>
        <dsp:cNvSpPr/>
      </dsp:nvSpPr>
      <dsp:spPr>
        <a:xfrm>
          <a:off x="0" y="0"/>
          <a:ext cx="7114340" cy="6177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 dirty="0"/>
        </a:p>
      </dsp:txBody>
      <dsp:txXfrm>
        <a:off x="30157" y="30157"/>
        <a:ext cx="7054026" cy="557446"/>
      </dsp:txXfrm>
    </dsp:sp>
    <dsp:sp modelId="{C7BDEDE7-D574-40E6-ACA8-480E62D4B932}">
      <dsp:nvSpPr>
        <dsp:cNvPr id="0" name=""/>
        <dsp:cNvSpPr/>
      </dsp:nvSpPr>
      <dsp:spPr>
        <a:xfrm>
          <a:off x="0" y="671957"/>
          <a:ext cx="7114340" cy="5191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5880" tIns="41910" rIns="234696" bIns="4191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600" b="1" kern="1200" dirty="0"/>
            <a:t>Qualità delle raccomandazioni</a:t>
          </a:r>
          <a:br>
            <a:rPr lang="it-IT" sz="2600" kern="1200" dirty="0"/>
          </a:br>
          <a:r>
            <a:rPr lang="it-IT" sz="2600" i="1" kern="1200" dirty="0"/>
            <a:t>(Accuratezza, Originalità, Varietà)</a:t>
          </a: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600" b="1" kern="1200"/>
            <a:t>Esperienza utente</a:t>
          </a:r>
          <a:br>
            <a:rPr lang="it-IT" sz="2600" kern="1200"/>
          </a:br>
          <a:r>
            <a:rPr lang="it-IT" sz="2600" i="1" kern="1200"/>
            <a:t>(Facilità d’uso, Interazione, Familiarità col sistema)</a:t>
          </a:r>
          <a:endParaRPr lang="en-US" sz="2600" kern="120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600" b="1" kern="1200" dirty="0"/>
            <a:t>Controllo e trasparenza</a:t>
          </a:r>
          <a:br>
            <a:rPr lang="it-IT" sz="2600" kern="1200" dirty="0"/>
          </a:br>
          <a:r>
            <a:rPr lang="it-IT" sz="2600" i="1" kern="1200" dirty="0"/>
            <a:t>(Gestione del profilo, Comprensione delle raccomandazioni)</a:t>
          </a: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600" b="1" kern="1200" dirty="0"/>
            <a:t>Utilità percepita e fiducia</a:t>
          </a:r>
          <a:br>
            <a:rPr lang="it-IT" sz="2600" kern="1200" dirty="0"/>
          </a:br>
          <a:r>
            <a:rPr lang="it-IT" sz="2600" i="1" kern="1200" dirty="0"/>
            <a:t>(Utilità dei suggerimenti, fiducia nei suggerimenti, Soddisfazione)</a:t>
          </a: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600" b="1" kern="1200"/>
            <a:t>Intenzioni future</a:t>
          </a:r>
          <a:br>
            <a:rPr lang="it-IT" sz="2600" kern="1200"/>
          </a:br>
          <a:r>
            <a:rPr lang="it-IT" sz="2600" i="1" kern="1200"/>
            <a:t>(Riutilizzo del sistema, Possibilità di acquisto)</a:t>
          </a:r>
          <a:endParaRPr lang="en-US" sz="2600" kern="1200"/>
        </a:p>
      </dsp:txBody>
      <dsp:txXfrm>
        <a:off x="0" y="671957"/>
        <a:ext cx="7114340" cy="51915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77A878-BBB5-2D47-88E4-7FFA4D0DA8E8}" type="datetimeFigureOut">
              <a:rPr lang="it-IT" smtClean="0"/>
              <a:t>14/04/2025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E5E88E-3EC7-6040-9F3F-B98994A8F1C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0805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A4B156B8-79B6-39AD-9E31-20F2C2EC8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>
            <a:extLst>
              <a:ext uri="{FF2B5EF4-FFF2-40B4-BE49-F238E27FC236}">
                <a16:creationId xmlns:a16="http://schemas.microsoft.com/office/drawing/2014/main" id="{BEBE164E-0003-7B54-CCF8-456E142F4F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>
            <a:extLst>
              <a:ext uri="{FF2B5EF4-FFF2-40B4-BE49-F238E27FC236}">
                <a16:creationId xmlns:a16="http://schemas.microsoft.com/office/drawing/2014/main" id="{25A03EAA-DA94-9F7B-B40F-DD84621C5D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32479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034D8955-9123-B0D2-F76C-9C59BC249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>
            <a:extLst>
              <a:ext uri="{FF2B5EF4-FFF2-40B4-BE49-F238E27FC236}">
                <a16:creationId xmlns:a16="http://schemas.microsoft.com/office/drawing/2014/main" id="{69B8DB27-BF5B-FD46-B661-EF8AD00786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>
            <a:extLst>
              <a:ext uri="{FF2B5EF4-FFF2-40B4-BE49-F238E27FC236}">
                <a16:creationId xmlns:a16="http://schemas.microsoft.com/office/drawing/2014/main" id="{6DA52427-41D3-E4DA-2700-1E86140D99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729591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CF8B26B6-E20A-8A16-3782-F4BD087EA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>
            <a:extLst>
              <a:ext uri="{FF2B5EF4-FFF2-40B4-BE49-F238E27FC236}">
                <a16:creationId xmlns:a16="http://schemas.microsoft.com/office/drawing/2014/main" id="{C257B980-3350-D679-F41C-95B2D9D244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>
            <a:extLst>
              <a:ext uri="{FF2B5EF4-FFF2-40B4-BE49-F238E27FC236}">
                <a16:creationId xmlns:a16="http://schemas.microsoft.com/office/drawing/2014/main" id="{5635E61A-30F4-94AA-3706-2A2A3CE8CF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740412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2724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5966E-782B-458A-9736-E97622C5E107}" type="datetime1">
              <a:rPr lang="it-IT" smtClean="0"/>
              <a:t>14/04/2025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3DA80-BF21-C54C-ABCB-ACE05FFC9829}" type="slidenum">
              <a:rPr lang="it-IT" smtClean="0"/>
              <a:t>‹N›</a:t>
            </a:fld>
            <a:endParaRPr lang="it-IT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9432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35665-2FA9-4DCF-B528-48885FA4EA3F}" type="datetime1">
              <a:rPr lang="it-IT" smtClean="0"/>
              <a:t>14/04/2025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3DA80-BF21-C54C-ABCB-ACE05FFC982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7034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134CF-2824-4A2E-86DB-F92CC7415EB7}" type="datetime1">
              <a:rPr lang="it-IT" smtClean="0"/>
              <a:t>14/04/2025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3DA80-BF21-C54C-ABCB-ACE05FFC9829}" type="slidenum">
              <a:rPr lang="it-IT" smtClean="0"/>
              <a:t>‹N›</a:t>
            </a:fld>
            <a:endParaRPr lang="it-IT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7577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50452-AEAD-4C7A-9570-4A7CBBF56C58}" type="datetime1">
              <a:rPr lang="it-IT" smtClean="0"/>
              <a:t>14/04/2025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3DA80-BF21-C54C-ABCB-ACE05FFC982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0401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EC55-2D56-4E05-A254-704F565794F4}" type="datetime1">
              <a:rPr lang="it-IT" smtClean="0"/>
              <a:t>14/04/2025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3DA80-BF21-C54C-ABCB-ACE05FFC982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25863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095DC-891F-4CEE-BE3B-0B2B195962E2}" type="datetime1">
              <a:rPr lang="it-IT" smtClean="0"/>
              <a:t>14/04/2025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3DA80-BF21-C54C-ABCB-ACE05FFC982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6148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6F4FD-7D20-41EE-BB6A-FC4320CFC3E2}" type="datetime1">
              <a:rPr lang="it-IT" smtClean="0"/>
              <a:t>14/04/2025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3DA80-BF21-C54C-ABCB-ACE05FFC982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07878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883105-9867-4A9D-915D-8A06C812E246}" type="datetime1">
              <a:rPr lang="it-IT" smtClean="0"/>
              <a:t>14/04/2025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1C3DA80-BF21-C54C-ABCB-ACE05FFC982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5264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1861B-85CF-473E-8EED-9ABE29F405F0}" type="datetime1">
              <a:rPr lang="it-IT" smtClean="0"/>
              <a:t>14/04/2025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3DA80-BF21-C54C-ABCB-ACE05FFC982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27432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15DB6-E7B5-4105-AE20-D51A45D06684}" type="datetime1">
              <a:rPr lang="it-IT" smtClean="0"/>
              <a:t>14/04/2025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3DA80-BF21-C54C-ABCB-ACE05FFC982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110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D5C3F-68BF-4969-A5E5-347B33F88959}" type="datetime1">
              <a:rPr lang="it-IT" smtClean="0"/>
              <a:t>14/04/2025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3DA80-BF21-C54C-ABCB-ACE05FFC982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21713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0D9F90C-7C23-4EF1-B6DC-DAEF35B9ACBE}" type="datetime1">
              <a:rPr lang="it-IT" smtClean="0"/>
              <a:t>14/04/2025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1C3DA80-BF21-C54C-ABCB-ACE05FFC9829}" type="slidenum">
              <a:rPr lang="it-IT" smtClean="0"/>
              <a:t>‹N›</a:t>
            </a:fld>
            <a:endParaRPr lang="it-IT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8846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eg"/><Relationship Id="rId3" Type="http://schemas.openxmlformats.org/officeDocument/2006/relationships/image" Target="../media/image20.jpeg"/><Relationship Id="rId7" Type="http://schemas.openxmlformats.org/officeDocument/2006/relationships/image" Target="../media/image2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10" Type="http://schemas.openxmlformats.org/officeDocument/2006/relationships/image" Target="../media/image29.jpeg"/><Relationship Id="rId4" Type="http://schemas.openxmlformats.org/officeDocument/2006/relationships/image" Target="../media/image23.jpeg"/><Relationship Id="rId9" Type="http://schemas.openxmlformats.org/officeDocument/2006/relationships/image" Target="../media/image28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90;p2">
            <a:extLst>
              <a:ext uri="{FF2B5EF4-FFF2-40B4-BE49-F238E27FC236}">
                <a16:creationId xmlns:a16="http://schemas.microsoft.com/office/drawing/2014/main" id="{6EC00902-14AB-CE87-D00C-5B86D7BDF704}"/>
              </a:ext>
            </a:extLst>
          </p:cNvPr>
          <p:cNvSpPr txBox="1"/>
          <p:nvPr/>
        </p:nvSpPr>
        <p:spPr>
          <a:xfrm>
            <a:off x="1666568" y="2551415"/>
            <a:ext cx="9151652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 b="1" dirty="0">
                <a:solidFill>
                  <a:srgbClr val="253A6B"/>
                </a:solidFill>
                <a:latin typeface="Times New Roman"/>
                <a:cs typeface="Times New Roman"/>
              </a:rPr>
              <a:t>VALUTAZIONE DI SISTEMI DI RACCOMANDAZIONE DI TIPO MULTIMODALE TRAMITE PIATTAFORMA WEB</a:t>
            </a:r>
            <a:endParaRPr lang="it-IT" sz="3200" b="1" dirty="0">
              <a:solidFill>
                <a:srgbClr val="253A6B"/>
              </a:solidFill>
              <a:latin typeface="Times New Roman"/>
              <a:cs typeface="Times New Roman"/>
              <a:sym typeface="Times New Roman"/>
            </a:endParaRPr>
          </a:p>
        </p:txBody>
      </p:sp>
      <p:sp>
        <p:nvSpPr>
          <p:cNvPr id="8" name="Google Shape;90;p2">
            <a:extLst>
              <a:ext uri="{FF2B5EF4-FFF2-40B4-BE49-F238E27FC236}">
                <a16:creationId xmlns:a16="http://schemas.microsoft.com/office/drawing/2014/main" id="{3E1F70A5-2D27-EC62-E83F-B856B161A393}"/>
              </a:ext>
            </a:extLst>
          </p:cNvPr>
          <p:cNvSpPr txBox="1"/>
          <p:nvPr/>
        </p:nvSpPr>
        <p:spPr>
          <a:xfrm>
            <a:off x="1023054" y="4804763"/>
            <a:ext cx="3500676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253A6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Relatore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dirty="0">
                <a:solidFill>
                  <a:srgbClr val="253A6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Prof. Cataldo Musto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253A6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Correlatore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dirty="0">
                <a:solidFill>
                  <a:srgbClr val="253A6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Dott. Giuseppe Spillo</a:t>
            </a:r>
          </a:p>
        </p:txBody>
      </p:sp>
      <p:sp>
        <p:nvSpPr>
          <p:cNvPr id="9" name="Google Shape;90;p2">
            <a:extLst>
              <a:ext uri="{FF2B5EF4-FFF2-40B4-BE49-F238E27FC236}">
                <a16:creationId xmlns:a16="http://schemas.microsoft.com/office/drawing/2014/main" id="{C00E357F-C1DD-97A8-DA20-B77F0BED7535}"/>
              </a:ext>
            </a:extLst>
          </p:cNvPr>
          <p:cNvSpPr txBox="1"/>
          <p:nvPr/>
        </p:nvSpPr>
        <p:spPr>
          <a:xfrm>
            <a:off x="8438814" y="5543427"/>
            <a:ext cx="3500676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253A6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Laureando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dirty="0">
                <a:solidFill>
                  <a:srgbClr val="253A6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Lorenzo Bucci</a:t>
            </a:r>
          </a:p>
        </p:txBody>
      </p:sp>
      <p:pic>
        <p:nvPicPr>
          <p:cNvPr id="2" name="Google Shape;84;p1" descr="Università degli studi di Bari Aldo Moro | Unicore">
            <a:extLst>
              <a:ext uri="{FF2B5EF4-FFF2-40B4-BE49-F238E27FC236}">
                <a16:creationId xmlns:a16="http://schemas.microsoft.com/office/drawing/2014/main" id="{D631764A-183F-D610-EC37-2E0B807B1FF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44994" y="192117"/>
            <a:ext cx="7226709" cy="21680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9483AEB-6F1A-7DA5-0802-B40612CA2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3DA80-BF21-C54C-ABCB-ACE05FFC9829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5">
          <a:extLst>
            <a:ext uri="{FF2B5EF4-FFF2-40B4-BE49-F238E27FC236}">
              <a16:creationId xmlns:a16="http://schemas.microsoft.com/office/drawing/2014/main" id="{3CE77716-B396-F515-B413-3717DED78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" name="Rectangle 103">
            <a:extLst>
              <a:ext uri="{FF2B5EF4-FFF2-40B4-BE49-F238E27FC236}">
                <a16:creationId xmlns:a16="http://schemas.microsoft.com/office/drawing/2014/main" id="{EE1530B0-6F96-46C0-8B3E-3215CB756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754910CF-1B56-45D3-960A-E89F7B3B9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98" name="Google Shape;98;p3">
            <a:extLst>
              <a:ext uri="{FF2B5EF4-FFF2-40B4-BE49-F238E27FC236}">
                <a16:creationId xmlns:a16="http://schemas.microsoft.com/office/drawing/2014/main" id="{95E0166B-A6F4-0CF1-058C-18FDBB53B6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6335" y="568325"/>
            <a:ext cx="3084844" cy="2298516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>
              <a:spcAft>
                <a:spcPts val="0"/>
              </a:spcAft>
              <a:buClr>
                <a:srgbClr val="253A6B"/>
              </a:buClr>
              <a:buSzPts val="5600"/>
            </a:pPr>
            <a:r>
              <a:rPr lang="en-US" sz="4000" b="1" dirty="0">
                <a:solidFill>
                  <a:srgbClr val="FFFFFF"/>
                </a:solidFill>
              </a:rPr>
              <a:t>Web Moderno e Information Overload</a:t>
            </a:r>
            <a:endParaRPr lang="en-US" sz="4000" b="1" dirty="0">
              <a:solidFill>
                <a:srgbClr val="FFFFFF"/>
              </a:solidFill>
              <a:sym typeface="Times New Roman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6669F804-A677-4B75-95F4-A5E4426FB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graphicFrame>
        <p:nvGraphicFramePr>
          <p:cNvPr id="100" name="CasellaDiTesto 2">
            <a:extLst>
              <a:ext uri="{FF2B5EF4-FFF2-40B4-BE49-F238E27FC236}">
                <a16:creationId xmlns:a16="http://schemas.microsoft.com/office/drawing/2014/main" id="{F90B2C18-3672-D287-0124-7E9E48A31E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2379207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1" name="Immagine 10">
            <a:extLst>
              <a:ext uri="{FF2B5EF4-FFF2-40B4-BE49-F238E27FC236}">
                <a16:creationId xmlns:a16="http://schemas.microsoft.com/office/drawing/2014/main" id="{078BF635-9C0D-35BD-B513-EEC447DDF5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" y="2987921"/>
            <a:ext cx="4037237" cy="3301754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9FB81334-3AB5-5E6F-B4FA-295B8495E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3DA80-BF21-C54C-ABCB-ACE05FFC9829}" type="slidenum">
              <a:rPr lang="it-IT" smtClean="0">
                <a:solidFill>
                  <a:schemeClr val="tx2">
                    <a:lumMod val="75000"/>
                  </a:schemeClr>
                </a:solidFill>
              </a:rPr>
              <a:t>2</a:t>
            </a:fld>
            <a:endParaRPr lang="it-IT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7214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0F08B55-BBAD-3908-E981-1F082BC4E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83" y="201479"/>
            <a:ext cx="12192000" cy="988906"/>
          </a:xfrm>
        </p:spPr>
        <p:txBody>
          <a:bodyPr/>
          <a:lstStyle/>
          <a:p>
            <a:pPr algn="ctr"/>
            <a:r>
              <a:rPr lang="it-IT" sz="3200" b="1" dirty="0">
                <a:solidFill>
                  <a:srgbClr val="253A6B"/>
                </a:solidFill>
                <a:latin typeface="Times New Roman"/>
                <a:ea typeface="+mn-ea"/>
                <a:cs typeface="Times New Roman"/>
              </a:rPr>
              <a:t>DOMANDA: COME RIDURRE IL FENOMENO DELL’INFORMATION OVERLOAD?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7DDE605-27EA-0FE2-4D88-0E62DC886075}"/>
              </a:ext>
            </a:extLst>
          </p:cNvPr>
          <p:cNvSpPr txBox="1"/>
          <p:nvPr/>
        </p:nvSpPr>
        <p:spPr>
          <a:xfrm>
            <a:off x="410702" y="1786657"/>
            <a:ext cx="9903417" cy="6109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it-IT" sz="2400" b="1" spc="-50" dirty="0">
                <a:solidFill>
                  <a:srgbClr val="253A6B"/>
                </a:solidFill>
                <a:latin typeface="Times New Roman"/>
                <a:cs typeface="Times New Roman"/>
              </a:rPr>
              <a:t>Soluzione : Utilizzo dei </a:t>
            </a:r>
            <a:r>
              <a:rPr lang="it-IT" sz="2400" b="1" spc="-50" dirty="0" err="1">
                <a:solidFill>
                  <a:srgbClr val="253A6B"/>
                </a:solidFill>
                <a:latin typeface="Times New Roman"/>
                <a:cs typeface="Times New Roman"/>
              </a:rPr>
              <a:t>Recommender</a:t>
            </a:r>
            <a:r>
              <a:rPr lang="it-IT" sz="2400" b="1" spc="-50" dirty="0">
                <a:solidFill>
                  <a:srgbClr val="253A6B"/>
                </a:solidFill>
                <a:latin typeface="Times New Roman"/>
                <a:cs typeface="Times New Roman"/>
              </a:rPr>
              <a:t> System</a:t>
            </a:r>
          </a:p>
          <a:p>
            <a:r>
              <a:rPr lang="it-IT" sz="23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libri" panose="020F0502020204030204"/>
              </a:rPr>
              <a:t>I </a:t>
            </a:r>
            <a:r>
              <a:rPr lang="it-IT" sz="2300" b="1" dirty="0" err="1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libri" panose="020F0502020204030204"/>
              </a:rPr>
              <a:t>Recommender</a:t>
            </a:r>
            <a:r>
              <a:rPr lang="it-IT" sz="23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libri" panose="020F0502020204030204"/>
              </a:rPr>
              <a:t> System </a:t>
            </a:r>
            <a:r>
              <a:rPr lang="it-IT" sz="23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libri" panose="020F0502020204030204"/>
              </a:rPr>
              <a:t>sono sistemi intelligenti che: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it-IT" sz="23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libri" panose="020F0502020204030204"/>
              </a:rPr>
              <a:t>Analizzano le preferenze degli utenti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it-IT" sz="23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libri" panose="020F0502020204030204"/>
              </a:rPr>
              <a:t>Offrono suggerimenti personalizzati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it-IT" sz="23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libri" panose="020F0502020204030204"/>
              </a:rPr>
              <a:t>Facilitano la scoperta di contenuti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it-IT" sz="23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libri" panose="020F0502020204030204"/>
              </a:rPr>
              <a:t>Riducono l’Information </a:t>
            </a:r>
            <a:r>
              <a:rPr lang="it-IT" sz="2300" dirty="0" err="1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libri" panose="020F0502020204030204"/>
              </a:rPr>
              <a:t>overload</a:t>
            </a:r>
            <a:endParaRPr lang="it-IT" sz="23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it-IT" sz="23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</a:pPr>
            <a:r>
              <a:rPr lang="it-IT" sz="2400" b="1" spc="-50" dirty="0">
                <a:solidFill>
                  <a:srgbClr val="253A6B"/>
                </a:solidFill>
                <a:latin typeface="Times New Roman"/>
                <a:cs typeface="Times New Roman"/>
              </a:rPr>
              <a:t>Tipologie di </a:t>
            </a:r>
            <a:r>
              <a:rPr lang="it-IT" sz="2400" b="1" spc="-50" dirty="0" err="1">
                <a:solidFill>
                  <a:srgbClr val="253A6B"/>
                </a:solidFill>
                <a:latin typeface="Times New Roman"/>
                <a:cs typeface="Times New Roman"/>
              </a:rPr>
              <a:t>Recommender</a:t>
            </a:r>
            <a:r>
              <a:rPr lang="it-IT" sz="2400" b="1" spc="-50" dirty="0">
                <a:solidFill>
                  <a:srgbClr val="253A6B"/>
                </a:solidFill>
                <a:latin typeface="Times New Roman"/>
                <a:cs typeface="Times New Roman"/>
              </a:rPr>
              <a:t> System: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it-IT" sz="23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libri" panose="020F0502020204030204"/>
              </a:rPr>
              <a:t>Collaborative Filtering</a:t>
            </a:r>
            <a:r>
              <a:rPr lang="it-IT" sz="23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libri" panose="020F0502020204030204"/>
              </a:rPr>
              <a:t>: suggerimenti basati su valutazioni fornite da utenti con interessi simili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it-IT" sz="23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libri" panose="020F0502020204030204"/>
              </a:rPr>
              <a:t>Content-</a:t>
            </a:r>
            <a:r>
              <a:rPr lang="it-IT" sz="2300" b="1" dirty="0" err="1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libri" panose="020F0502020204030204"/>
              </a:rPr>
              <a:t>Based</a:t>
            </a:r>
            <a:r>
              <a:rPr lang="it-IT" sz="23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libri" panose="020F0502020204030204"/>
              </a:rPr>
              <a:t> Filtering</a:t>
            </a:r>
            <a:r>
              <a:rPr lang="it-IT" sz="23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libri" panose="020F0502020204030204"/>
              </a:rPr>
              <a:t>: suggerimenti basati sulle caratteristiche degli oggetti</a:t>
            </a:r>
            <a:endParaRPr lang="en-US" sz="23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dirty="0"/>
          </a:p>
          <a:p>
            <a:endParaRPr lang="it-IT" sz="2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it-IT" sz="2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</a:endParaRPr>
          </a:p>
          <a:p>
            <a:endParaRPr lang="it-IT" sz="2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</a:endParaRPr>
          </a:p>
          <a:p>
            <a:endParaRPr lang="it-IT" sz="2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</a:endParaRPr>
          </a:p>
        </p:txBody>
      </p:sp>
      <p:pic>
        <p:nvPicPr>
          <p:cNvPr id="5" name="Picture 6" descr="System Design Interview: Recommendation System Design | Tech Wrench">
            <a:extLst>
              <a:ext uri="{FF2B5EF4-FFF2-40B4-BE49-F238E27FC236}">
                <a16:creationId xmlns:a16="http://schemas.microsoft.com/office/drawing/2014/main" id="{6CBA2554-23EA-40DF-B019-E2524F073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9590" y="1786657"/>
            <a:ext cx="5362410" cy="2931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8AEACA31-BC58-0349-0688-42569F3AA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3DA80-BF21-C54C-ABCB-ACE05FFC9829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76718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5">
          <a:extLst>
            <a:ext uri="{FF2B5EF4-FFF2-40B4-BE49-F238E27FC236}">
              <a16:creationId xmlns:a16="http://schemas.microsoft.com/office/drawing/2014/main" id="{1495A3F4-72CB-D121-83CE-8EEAB9D7F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" name="Rectangle 111">
            <a:extLst>
              <a:ext uri="{FF2B5EF4-FFF2-40B4-BE49-F238E27FC236}">
                <a16:creationId xmlns:a16="http://schemas.microsoft.com/office/drawing/2014/main" id="{F64BBAA4-C62B-4146-B49F-FE4CC4655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Google Shape;98;p3">
            <a:extLst>
              <a:ext uri="{FF2B5EF4-FFF2-40B4-BE49-F238E27FC236}">
                <a16:creationId xmlns:a16="http://schemas.microsoft.com/office/drawing/2014/main" id="{D082F1E0-8577-74F9-AD58-B5BFC439B6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" y="0"/>
            <a:ext cx="12192000" cy="988907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algn="ctr">
              <a:spcAft>
                <a:spcPts val="0"/>
              </a:spcAft>
              <a:buClr>
                <a:srgbClr val="253A6B"/>
              </a:buClr>
              <a:buSzPts val="5600"/>
            </a:pPr>
            <a:br>
              <a:rPr lang="en-US" sz="3400" b="1" dirty="0">
                <a:sym typeface="Times New Roman"/>
              </a:rPr>
            </a:br>
            <a:r>
              <a:rPr lang="en-US" sz="3200" b="1" dirty="0">
                <a:solidFill>
                  <a:srgbClr val="253A6B"/>
                </a:solidFill>
                <a:latin typeface="Times New Roman"/>
                <a:ea typeface="+mn-ea"/>
                <a:cs typeface="Times New Roman"/>
                <a:sym typeface="Times New Roman"/>
              </a:rPr>
              <a:t>COLLABORATIVE FILTERING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4CFB44FD-9BB5-3880-7137-46B5ED50B4C9}"/>
                  </a:ext>
                </a:extLst>
              </p:cNvPr>
              <p:cNvSpPr txBox="1"/>
              <p:nvPr/>
            </p:nvSpPr>
            <p:spPr>
              <a:xfrm>
                <a:off x="6096000" y="1273333"/>
                <a:ext cx="5682712" cy="4453556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Autofit/>
              </a:bodyPr>
              <a:lstStyle/>
              <a:p>
                <a:pPr defTabSz="914400">
                  <a:lnSpc>
                    <a:spcPct val="90000"/>
                  </a:lnSpc>
                  <a:spcAft>
                    <a:spcPts val="600"/>
                  </a:spcAft>
                  <a:buClr>
                    <a:schemeClr val="accent1"/>
                  </a:buClr>
                  <a:buFont typeface="Calibri" panose="020F0502020204030204" pitchFamily="34" charset="0"/>
                  <a:buNone/>
                </a:pPr>
                <a:r>
                  <a:rPr lang="en-US" sz="2400" b="1" spc="-50" dirty="0">
                    <a:solidFill>
                      <a:srgbClr val="253A6B"/>
                    </a:solidFill>
                    <a:latin typeface="Times New Roman"/>
                    <a:cs typeface="Times New Roman"/>
                  </a:rPr>
                  <a:t>Profilo </a:t>
                </a:r>
                <a:r>
                  <a:rPr lang="en-US" sz="2400" b="1" spc="-50" dirty="0" err="1">
                    <a:solidFill>
                      <a:srgbClr val="253A6B"/>
                    </a:solidFill>
                    <a:latin typeface="Times New Roman"/>
                    <a:cs typeface="Times New Roman"/>
                  </a:rPr>
                  <a:t>Utente</a:t>
                </a:r>
                <a:r>
                  <a:rPr lang="en-US" sz="2400" b="1" spc="-50" dirty="0">
                    <a:solidFill>
                      <a:srgbClr val="253A6B"/>
                    </a:solidFill>
                    <a:latin typeface="Times New Roman"/>
                    <a:cs typeface="Times New Roman"/>
                  </a:rPr>
                  <a:t> - Matrice User-Item:</a:t>
                </a:r>
              </a:p>
              <a:p>
                <a:pPr defTabSz="914400">
                  <a:lnSpc>
                    <a:spcPct val="90000"/>
                  </a:lnSpc>
                  <a:spcAft>
                    <a:spcPts val="600"/>
                  </a:spcAft>
                  <a:buClr>
                    <a:schemeClr val="accent1"/>
                  </a:buClr>
                </a:pPr>
                <a:r>
                  <a:rPr lang="en-US" sz="2400" b="1" dirty="0" err="1"/>
                  <a:t>Righe</a:t>
                </a:r>
                <a:r>
                  <a:rPr lang="en-US" sz="2400" dirty="0"/>
                  <a:t>: </a:t>
                </a:r>
                <a:r>
                  <a:rPr lang="en-US" sz="2400" dirty="0" err="1"/>
                  <a:t>rappresentano</a:t>
                </a:r>
                <a:r>
                  <a:rPr lang="en-US" sz="2400" dirty="0"/>
                  <a:t> </a:t>
                </a:r>
                <a:r>
                  <a:rPr lang="en-US" sz="2400" dirty="0" err="1"/>
                  <a:t>gli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utenti</a:t>
                </a:r>
                <a:r>
                  <a:rPr lang="en-US" sz="2400" dirty="0"/>
                  <a:t> </a:t>
                </a:r>
              </a:p>
              <a:p>
                <a:pPr defTabSz="914400">
                  <a:lnSpc>
                    <a:spcPct val="90000"/>
                  </a:lnSpc>
                  <a:spcAft>
                    <a:spcPts val="600"/>
                  </a:spcAft>
                  <a:buClr>
                    <a:schemeClr val="accent1"/>
                  </a:buClr>
                </a:pPr>
                <a:r>
                  <a:rPr lang="en-US" sz="2400" b="1" dirty="0" err="1"/>
                  <a:t>Colonne</a:t>
                </a:r>
                <a:r>
                  <a:rPr lang="en-US" sz="2400" dirty="0"/>
                  <a:t>: </a:t>
                </a:r>
                <a:r>
                  <a:rPr lang="en-US" sz="2400" dirty="0" err="1"/>
                  <a:t>rappresentano</a:t>
                </a:r>
                <a:r>
                  <a:rPr lang="en-US" sz="2400" dirty="0"/>
                  <a:t> </a:t>
                </a:r>
                <a:r>
                  <a:rPr lang="en-US" sz="2400" dirty="0" err="1"/>
                  <a:t>gli</a:t>
                </a:r>
                <a:r>
                  <a:rPr lang="en-US" sz="2400" dirty="0"/>
                  <a:t> item.</a:t>
                </a:r>
              </a:p>
              <a:p>
                <a:pPr defTabSz="914400">
                  <a:lnSpc>
                    <a:spcPct val="90000"/>
                  </a:lnSpc>
                  <a:spcAft>
                    <a:spcPts val="600"/>
                  </a:spcAft>
                  <a:buClr>
                    <a:schemeClr val="accent1"/>
                  </a:buClr>
                </a:pPr>
                <a:r>
                  <a:rPr lang="en-US" sz="2400" b="1" dirty="0" err="1"/>
                  <a:t>Ogni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cella</a:t>
                </a:r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it-IT" sz="2400" b="1" i="1" smtClean="0">
                            <a:latin typeface="Cambria Math" panose="02040503050406030204" pitchFamily="18" charset="0"/>
                          </a:rPr>
                          <m:t>𝒖𝒊</m:t>
                        </m:r>
                      </m:sub>
                    </m:sSub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indica la </a:t>
                </a:r>
                <a:r>
                  <a:rPr lang="en-US" sz="2400" dirty="0" err="1"/>
                  <a:t>valutazione</a:t>
                </a:r>
                <a:r>
                  <a:rPr lang="en-US" sz="2400" dirty="0"/>
                  <a:t> </a:t>
                </a:r>
              </a:p>
              <a:p>
                <a:pPr defTabSz="914400">
                  <a:lnSpc>
                    <a:spcPct val="90000"/>
                  </a:lnSpc>
                  <a:spcAft>
                    <a:spcPts val="600"/>
                  </a:spcAft>
                  <a:buClr>
                    <a:schemeClr val="accent1"/>
                  </a:buClr>
                </a:pPr>
                <a:r>
                  <a:rPr lang="en-US" sz="2400" dirty="0" err="1"/>
                  <a:t>dell’utente</a:t>
                </a:r>
                <a:r>
                  <a:rPr lang="en-US" sz="2400" dirty="0"/>
                  <a:t> </a:t>
                </a:r>
                <a:r>
                  <a:rPr lang="en-US" sz="2400" i="1" dirty="0"/>
                  <a:t>u</a:t>
                </a:r>
                <a:r>
                  <a:rPr lang="en-US" sz="2400" dirty="0"/>
                  <a:t>   </a:t>
                </a:r>
                <a:r>
                  <a:rPr lang="en-US" sz="2400" dirty="0" err="1"/>
                  <a:t>sull’item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i</a:t>
                </a:r>
                <a:endParaRPr lang="en-US" sz="2400" i="1" dirty="0"/>
              </a:p>
              <a:p>
                <a:pPr defTabSz="914400">
                  <a:lnSpc>
                    <a:spcPct val="90000"/>
                  </a:lnSpc>
                  <a:spcAft>
                    <a:spcPts val="600"/>
                  </a:spcAft>
                  <a:buClr>
                    <a:schemeClr val="accent1"/>
                  </a:buClr>
                  <a:buFont typeface="Calibri" panose="020F0502020204030204" pitchFamily="34" charset="0"/>
                </a:pPr>
                <a:endParaRPr 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 defTabSz="914400">
                  <a:lnSpc>
                    <a:spcPct val="90000"/>
                  </a:lnSpc>
                  <a:spcAft>
                    <a:spcPts val="600"/>
                  </a:spcAft>
                  <a:buClr>
                    <a:schemeClr val="accent1"/>
                  </a:buClr>
                </a:pPr>
                <a:r>
                  <a:rPr lang="en-US" sz="2400" b="1" spc="-50" dirty="0" err="1">
                    <a:solidFill>
                      <a:srgbClr val="253A6B"/>
                    </a:solidFill>
                    <a:latin typeface="Times New Roman"/>
                    <a:cs typeface="Times New Roman"/>
                  </a:rPr>
                  <a:t>Problemi</a:t>
                </a:r>
                <a:r>
                  <a:rPr lang="en-US" sz="2400" b="1" spc="-50" dirty="0">
                    <a:solidFill>
                      <a:srgbClr val="253A6B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2400" b="1" spc="-50" dirty="0" err="1">
                    <a:solidFill>
                      <a:srgbClr val="253A6B"/>
                    </a:solidFill>
                    <a:latin typeface="Times New Roman"/>
                    <a:cs typeface="Times New Roman"/>
                  </a:rPr>
                  <a:t>principali</a:t>
                </a:r>
                <a:r>
                  <a:rPr lang="en-US" sz="2400" b="1" spc="-50" dirty="0">
                    <a:solidFill>
                      <a:srgbClr val="253A6B"/>
                    </a:solidFill>
                    <a:latin typeface="Times New Roman"/>
                    <a:cs typeface="Times New Roman"/>
                  </a:rPr>
                  <a:t>:</a:t>
                </a:r>
              </a:p>
              <a:p>
                <a:pPr defTabSz="914400">
                  <a:lnSpc>
                    <a:spcPct val="90000"/>
                  </a:lnSpc>
                  <a:spcAft>
                    <a:spcPts val="600"/>
                  </a:spcAft>
                  <a:buClr>
                    <a:schemeClr val="accent1"/>
                  </a:buClr>
                </a:pPr>
                <a:r>
                  <a:rPr lang="en-US" sz="2400" b="1" dirty="0"/>
                  <a:t>Cold start </a:t>
                </a:r>
                <a:r>
                  <a:rPr lang="en-US" sz="2400" dirty="0"/>
                  <a:t>: </a:t>
                </a:r>
                <a:r>
                  <a:rPr lang="en-US" sz="2400" dirty="0" err="1"/>
                  <a:t>inserimento</a:t>
                </a:r>
                <a:r>
                  <a:rPr lang="en-US" sz="2400" dirty="0"/>
                  <a:t> nuovo </a:t>
                </a:r>
                <a:r>
                  <a:rPr lang="en-US" sz="2400" dirty="0" err="1"/>
                  <a:t>utente</a:t>
                </a:r>
                <a:endParaRPr lang="en-US" sz="2400" dirty="0"/>
              </a:p>
              <a:p>
                <a:pPr defTabSz="914400">
                  <a:lnSpc>
                    <a:spcPct val="90000"/>
                  </a:lnSpc>
                  <a:spcAft>
                    <a:spcPts val="600"/>
                  </a:spcAft>
                  <a:buClr>
                    <a:schemeClr val="accent1"/>
                  </a:buClr>
                </a:pPr>
                <a:r>
                  <a:rPr lang="en-US" sz="2400" b="1" dirty="0" err="1"/>
                  <a:t>Scalabilità</a:t>
                </a:r>
                <a:r>
                  <a:rPr lang="en-US" sz="2400" dirty="0"/>
                  <a:t> : </a:t>
                </a:r>
                <a:r>
                  <a:rPr lang="en-US" sz="2400" dirty="0" err="1"/>
                  <a:t>numero</a:t>
                </a:r>
                <a:r>
                  <a:rPr lang="en-US" sz="2400" dirty="0"/>
                  <a:t> </a:t>
                </a:r>
                <a:r>
                  <a:rPr lang="en-US" sz="2400" dirty="0" err="1"/>
                  <a:t>elevato</a:t>
                </a:r>
                <a:r>
                  <a:rPr lang="en-US" sz="2400" dirty="0"/>
                  <a:t> di </a:t>
                </a:r>
                <a:r>
                  <a:rPr lang="en-US" sz="2400" dirty="0" err="1"/>
                  <a:t>utenti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nel</a:t>
                </a:r>
                <a:r>
                  <a:rPr lang="en-US" sz="2400" dirty="0"/>
                  <a:t> DB</a:t>
                </a:r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4CFB44FD-9BB5-3880-7137-46B5ED50B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273333"/>
                <a:ext cx="5682712" cy="4453556"/>
              </a:xfrm>
              <a:prstGeom prst="rect">
                <a:avLst/>
              </a:prstGeom>
              <a:blipFill>
                <a:blip r:embed="rId3"/>
                <a:stretch>
                  <a:fillRect l="-3219" t="-191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magine 3" descr="Immagine che contiene testo, schermata, diagramma, Carattere&#10;&#10;Il contenuto generato dall'IA potrebbe non essere corretto.">
            <a:extLst>
              <a:ext uri="{FF2B5EF4-FFF2-40B4-BE49-F238E27FC236}">
                <a16:creationId xmlns:a16="http://schemas.microsoft.com/office/drawing/2014/main" id="{2C464C8A-AA3B-DDC4-0025-3C40B47B09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429" t="10714" r="2249" b="9557"/>
          <a:stretch/>
        </p:blipFill>
        <p:spPr>
          <a:xfrm>
            <a:off x="0" y="1481324"/>
            <a:ext cx="5851054" cy="2951192"/>
          </a:xfrm>
          <a:prstGeom prst="rect">
            <a:avLst/>
          </a:prstGeom>
        </p:spPr>
      </p:pic>
      <p:sp>
        <p:nvSpPr>
          <p:cNvPr id="114" name="Rectangle 113">
            <a:extLst>
              <a:ext uri="{FF2B5EF4-FFF2-40B4-BE49-F238E27FC236}">
                <a16:creationId xmlns:a16="http://schemas.microsoft.com/office/drawing/2014/main" id="{77C34054-98F8-4229-885E-04C525969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rgbClr val="AA50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22AAB964-B835-4B93-A1F3-4A30D1F38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5453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064A3602-7B47-9B63-57AD-B17C0E504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3DA80-BF21-C54C-ABCB-ACE05FFC9829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58260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18B588-3BCD-DDA1-CCAD-D34F7833D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0861964-D86C-4A50-8F6D-B466384A6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C49BF96-A9AE-C241-7CE6-CC66695E6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2656"/>
            <a:ext cx="12192000" cy="11593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200" b="1" dirty="0">
                <a:solidFill>
                  <a:srgbClr val="253A6B"/>
                </a:solidFill>
                <a:latin typeface="Times New Roman"/>
                <a:ea typeface="+mn-ea"/>
                <a:cs typeface="Times New Roman"/>
              </a:rPr>
              <a:t>CONTENT BASED FILTERING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3D8C89A0-95BE-A231-95CE-4FE25E2D3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86" y="1364697"/>
            <a:ext cx="6474977" cy="4128606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54A678E-8F30-4E92-A5BF-F5D03D011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390D3961-5E1B-C5E9-7D20-A71405DABDD1}"/>
              </a:ext>
            </a:extLst>
          </p:cNvPr>
          <p:cNvSpPr txBox="1"/>
          <p:nvPr/>
        </p:nvSpPr>
        <p:spPr>
          <a:xfrm>
            <a:off x="6616977" y="1473875"/>
            <a:ext cx="5501037" cy="3901409"/>
          </a:xfrm>
          <a:prstGeom prst="rect">
            <a:avLst/>
          </a:prstGeom>
          <a:solidFill>
            <a:schemeClr val="bg1"/>
          </a:solidFill>
        </p:spPr>
        <p:txBody>
          <a:bodyPr vert="horz" lIns="0" tIns="45720" rIns="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None/>
            </a:pPr>
            <a:r>
              <a:rPr lang="en-US" sz="2400" b="1" spc="-50" dirty="0" err="1">
                <a:solidFill>
                  <a:srgbClr val="253A6B"/>
                </a:solidFill>
                <a:latin typeface="Times New Roman"/>
                <a:cs typeface="Times New Roman"/>
              </a:rPr>
              <a:t>Profilo</a:t>
            </a:r>
            <a:r>
              <a:rPr lang="en-US" sz="2400" b="1" spc="-50" dirty="0">
                <a:solidFill>
                  <a:srgbClr val="253A6B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50" dirty="0" err="1">
                <a:solidFill>
                  <a:srgbClr val="253A6B"/>
                </a:solidFill>
                <a:latin typeface="Times New Roman"/>
                <a:cs typeface="Times New Roman"/>
              </a:rPr>
              <a:t>utente</a:t>
            </a:r>
            <a:r>
              <a:rPr lang="en-US" sz="2400" b="1" spc="-50" dirty="0">
                <a:solidFill>
                  <a:srgbClr val="253A6B"/>
                </a:solidFill>
                <a:latin typeface="Times New Roman"/>
                <a:cs typeface="Times New Roman"/>
              </a:rPr>
              <a:t>: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None/>
            </a:pPr>
            <a:r>
              <a:rPr lang="en-US" sz="2400" dirty="0" err="1"/>
              <a:t>Profilo</a:t>
            </a:r>
            <a:r>
              <a:rPr lang="en-US" sz="2400" dirty="0"/>
              <a:t> </a:t>
            </a:r>
            <a:r>
              <a:rPr lang="en-US" sz="2400" dirty="0" err="1"/>
              <a:t>utente</a:t>
            </a:r>
            <a:r>
              <a:rPr lang="en-US" sz="2400" dirty="0"/>
              <a:t> </a:t>
            </a:r>
            <a:r>
              <a:rPr lang="en-US" sz="2400" dirty="0" err="1"/>
              <a:t>costruito</a:t>
            </a:r>
            <a:r>
              <a:rPr lang="en-US" sz="2400" dirty="0"/>
              <a:t> in base alle </a:t>
            </a:r>
            <a:r>
              <a:rPr lang="en-US" sz="2400" dirty="0" err="1"/>
              <a:t>descrizioni</a:t>
            </a:r>
            <a:r>
              <a:rPr lang="en-US" sz="2400" dirty="0"/>
              <a:t>   </a:t>
            </a:r>
            <a:r>
              <a:rPr lang="en-US" sz="2400" dirty="0" err="1"/>
              <a:t>dei</a:t>
            </a:r>
            <a:r>
              <a:rPr lang="en-US" sz="2400" dirty="0"/>
              <a:t> </a:t>
            </a:r>
            <a:r>
              <a:rPr lang="en-US" sz="2400" dirty="0" err="1"/>
              <a:t>contenuti</a:t>
            </a:r>
            <a:r>
              <a:rPr lang="en-US" sz="2400" dirty="0"/>
              <a:t> di </a:t>
            </a:r>
            <a:r>
              <a:rPr lang="en-US" sz="2400" dirty="0" err="1"/>
              <a:t>suo</a:t>
            </a:r>
            <a:r>
              <a:rPr lang="en-US" sz="2400" dirty="0"/>
              <a:t> interesse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sz="2400" b="1" spc="-50" dirty="0" err="1">
                <a:solidFill>
                  <a:srgbClr val="253A6B"/>
                </a:solidFill>
                <a:latin typeface="Times New Roman"/>
                <a:cs typeface="Times New Roman"/>
              </a:rPr>
              <a:t>Problemi</a:t>
            </a:r>
            <a:r>
              <a:rPr lang="en-US" sz="2400" b="1" spc="-50" dirty="0">
                <a:solidFill>
                  <a:srgbClr val="253A6B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50" dirty="0" err="1">
                <a:solidFill>
                  <a:srgbClr val="253A6B"/>
                </a:solidFill>
                <a:latin typeface="Times New Roman"/>
                <a:cs typeface="Times New Roman"/>
              </a:rPr>
              <a:t>principali</a:t>
            </a:r>
            <a:r>
              <a:rPr lang="en-US" sz="2400" b="1" spc="-50" dirty="0">
                <a:solidFill>
                  <a:srgbClr val="253A6B"/>
                </a:solidFill>
                <a:latin typeface="Times New Roman"/>
                <a:cs typeface="Times New Roman"/>
              </a:rPr>
              <a:t>: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sz="2400" dirty="0" err="1"/>
              <a:t>Tendono</a:t>
            </a:r>
            <a:r>
              <a:rPr lang="en-US" sz="2400" dirty="0"/>
              <a:t> a </a:t>
            </a:r>
            <a:r>
              <a:rPr lang="en-US" sz="2400" dirty="0" err="1"/>
              <a:t>fornire</a:t>
            </a:r>
            <a:r>
              <a:rPr lang="en-US" sz="2400" dirty="0"/>
              <a:t> </a:t>
            </a:r>
            <a:r>
              <a:rPr lang="en-US" sz="2400" dirty="0" err="1"/>
              <a:t>raccomandazioni</a:t>
            </a:r>
            <a:r>
              <a:rPr lang="en-US" sz="2400" dirty="0"/>
              <a:t> </a:t>
            </a:r>
            <a:r>
              <a:rPr lang="en-US" sz="2400" dirty="0" err="1"/>
              <a:t>ovvie</a:t>
            </a:r>
            <a:endParaRPr lang="en-US" sz="2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CE8509-9E93-4D74-BF24-661F111C7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rgbClr val="FE99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E8BA98-E13C-403B-AC96-75E203799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5C6C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1ACAE01B-E100-2097-90D0-9D301D78A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3DA80-BF21-C54C-ABCB-ACE05FFC9829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94548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A3F3A931-E575-6EA9-8768-45FE6E49AA08}"/>
              </a:ext>
            </a:extLst>
          </p:cNvPr>
          <p:cNvSpPr txBox="1"/>
          <p:nvPr/>
        </p:nvSpPr>
        <p:spPr>
          <a:xfrm>
            <a:off x="0" y="33090"/>
            <a:ext cx="12192000" cy="8369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spc="-50" dirty="0">
                <a:solidFill>
                  <a:srgbClr val="253A6B"/>
                </a:solidFill>
                <a:latin typeface="Times New Roman"/>
                <a:cs typeface="Times New Roman"/>
              </a:rPr>
              <a:t>COME RAPPRESENTARE GLI OGGETTI DEL CATALOGO?</a:t>
            </a:r>
          </a:p>
        </p:txBody>
      </p:sp>
      <p:graphicFrame>
        <p:nvGraphicFramePr>
          <p:cNvPr id="36" name="CasellaDiTesto 4">
            <a:extLst>
              <a:ext uri="{FF2B5EF4-FFF2-40B4-BE49-F238E27FC236}">
                <a16:creationId xmlns:a16="http://schemas.microsoft.com/office/drawing/2014/main" id="{6B29B85E-64B0-C507-EB5F-23CABD04A4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4221926"/>
              </p:ext>
            </p:extLst>
          </p:nvPr>
        </p:nvGraphicFramePr>
        <p:xfrm>
          <a:off x="1066800" y="1726556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D9EEC6E4-5D2C-057F-2145-B293E096C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3DA80-BF21-C54C-ABCB-ACE05FFC9829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80531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44F6D8A-3886-57F2-DB45-08DE6A0DC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5214"/>
            <a:ext cx="12192000" cy="674292"/>
          </a:xfrm>
        </p:spPr>
        <p:txBody>
          <a:bodyPr>
            <a:normAutofit fontScale="90000"/>
          </a:bodyPr>
          <a:lstStyle/>
          <a:p>
            <a:pPr algn="ctr"/>
            <a:r>
              <a:rPr lang="it-IT" sz="3200" b="1" dirty="0">
                <a:solidFill>
                  <a:srgbClr val="253A6B"/>
                </a:solidFill>
                <a:latin typeface="Times New Roman"/>
                <a:ea typeface="+mn-ea"/>
                <a:cs typeface="Times New Roman"/>
              </a:rPr>
              <a:t>FONTI DI INFORMAZIONE PER RAPPRESENTARE UN OGGETTO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B67EA04-7088-DCFA-4B92-57DEA3709213}"/>
              </a:ext>
            </a:extLst>
          </p:cNvPr>
          <p:cNvSpPr txBox="1"/>
          <p:nvPr/>
        </p:nvSpPr>
        <p:spPr>
          <a:xfrm>
            <a:off x="139485" y="1089349"/>
            <a:ext cx="12052515" cy="4893647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dirty="0"/>
              <a:t>Un </a:t>
            </a:r>
            <a:r>
              <a:rPr lang="it-IT" sz="2400" b="1" dirty="0"/>
              <a:t>grafo </a:t>
            </a:r>
            <a:r>
              <a:rPr lang="it-IT" sz="2400" dirty="0"/>
              <a:t>può essere usato per codificare i </a:t>
            </a:r>
            <a:r>
              <a:rPr lang="it-IT" sz="2400" b="1" dirty="0"/>
              <a:t>gusti degli utenti </a:t>
            </a:r>
            <a:r>
              <a:rPr lang="it-IT" sz="2400" dirty="0"/>
              <a:t>oppure le </a:t>
            </a:r>
            <a:r>
              <a:rPr lang="it-IT" sz="2400" b="1" dirty="0"/>
              <a:t>caratteristiche degli item</a:t>
            </a:r>
            <a:r>
              <a:rPr lang="it-IT" sz="2400" dirty="0"/>
              <a:t>.</a:t>
            </a:r>
          </a:p>
          <a:p>
            <a:r>
              <a:rPr lang="it-IT" sz="2400" dirty="0"/>
              <a:t>E’ una struttura formata da </a:t>
            </a:r>
            <a:r>
              <a:rPr lang="it-IT" sz="2400" b="1" dirty="0"/>
              <a:t>nodi</a:t>
            </a:r>
            <a:r>
              <a:rPr lang="it-IT" sz="2400" dirty="0"/>
              <a:t> (elementi) e </a:t>
            </a:r>
            <a:r>
              <a:rPr lang="it-IT" sz="2400" b="1" dirty="0"/>
              <a:t>archi</a:t>
            </a:r>
            <a:r>
              <a:rPr lang="it-IT" sz="2400" dirty="0"/>
              <a:t> (collegamenti tra elementi).</a:t>
            </a:r>
          </a:p>
          <a:p>
            <a:endParaRPr lang="it-IT" sz="2400" dirty="0"/>
          </a:p>
          <a:p>
            <a:r>
              <a:rPr lang="it-IT" sz="2400" dirty="0"/>
              <a:t>In questa tesi l’</a:t>
            </a:r>
            <a:r>
              <a:rPr lang="it-IT" sz="2400" b="1" dirty="0"/>
              <a:t>oggetto</a:t>
            </a:r>
            <a:r>
              <a:rPr lang="it-IT" sz="2400" dirty="0"/>
              <a:t> corrisponde ad un </a:t>
            </a:r>
            <a:r>
              <a:rPr lang="it-IT" sz="2400" b="1" dirty="0"/>
              <a:t>Film</a:t>
            </a:r>
            <a:r>
              <a:rPr lang="it-IT" sz="2400" dirty="0"/>
              <a:t>.</a:t>
            </a:r>
          </a:p>
          <a:p>
            <a:r>
              <a:rPr lang="it-IT" sz="2400" dirty="0"/>
              <a:t>Per rappresentarlo quindi possiamo</a:t>
            </a:r>
          </a:p>
          <a:p>
            <a:r>
              <a:rPr lang="it-IT" sz="2400" dirty="0"/>
              <a:t>considerare come </a:t>
            </a:r>
            <a:r>
              <a:rPr lang="it-IT" sz="2400" b="1" dirty="0"/>
              <a:t>fonti di informazione</a:t>
            </a:r>
            <a:r>
              <a:rPr lang="it-IT" sz="2400" dirty="0"/>
              <a:t>:</a:t>
            </a:r>
          </a:p>
          <a:p>
            <a:endParaRPr lang="it-IT" sz="2400" b="1" dirty="0"/>
          </a:p>
          <a:p>
            <a:pPr marL="457200" indent="-457200">
              <a:buAutoNum type="arabicPeriod"/>
            </a:pPr>
            <a:r>
              <a:rPr lang="it-IT" sz="2400" b="1" dirty="0">
                <a:solidFill>
                  <a:schemeClr val="tx2">
                    <a:lumMod val="75000"/>
                  </a:schemeClr>
                </a:solidFill>
              </a:rPr>
              <a:t>Interazione User-Item</a:t>
            </a:r>
            <a:r>
              <a:rPr lang="it-IT" sz="2400" b="1" dirty="0"/>
              <a:t>: </a:t>
            </a:r>
          </a:p>
          <a:p>
            <a:r>
              <a:rPr lang="it-IT" sz="2400" b="1" dirty="0"/>
              <a:t>	</a:t>
            </a:r>
            <a:r>
              <a:rPr lang="it-IT" sz="2400" dirty="0"/>
              <a:t>Esprimibile mediante un </a:t>
            </a:r>
            <a:r>
              <a:rPr lang="it-IT" sz="2400" b="1" dirty="0"/>
              <a:t>Interaction </a:t>
            </a:r>
            <a:r>
              <a:rPr lang="it-IT" sz="2400" b="1" dirty="0" err="1"/>
              <a:t>Graph</a:t>
            </a:r>
            <a:r>
              <a:rPr lang="it-IT" sz="2400" b="1" dirty="0"/>
              <a:t> (IG).</a:t>
            </a:r>
            <a:endParaRPr lang="it-IT" sz="2400" b="1" dirty="0">
              <a:ea typeface="Calibri"/>
              <a:cs typeface="Calibri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it-IT" sz="2400" b="1" dirty="0"/>
              <a:t>Nodi: </a:t>
            </a:r>
            <a:r>
              <a:rPr lang="it-IT" sz="2400" dirty="0"/>
              <a:t>rappresentano</a:t>
            </a:r>
            <a:r>
              <a:rPr lang="it-IT" sz="2400" b="1" dirty="0"/>
              <a:t> </a:t>
            </a:r>
            <a:r>
              <a:rPr lang="it-IT" sz="2400" dirty="0"/>
              <a:t>utenti e Item (Film)</a:t>
            </a:r>
            <a:endParaRPr lang="it-IT" sz="2400" dirty="0">
              <a:ea typeface="Calibri"/>
              <a:cs typeface="Calibri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it-IT" sz="2400" b="1" dirty="0"/>
              <a:t>Archi: </a:t>
            </a:r>
            <a:r>
              <a:rPr lang="it-IT" sz="2400" dirty="0"/>
              <a:t>indicano un’interazione </a:t>
            </a:r>
          </a:p>
          <a:p>
            <a:r>
              <a:rPr lang="it-IT" sz="2400" dirty="0"/>
              <a:t>	(es. una valutazione o un acquisto)</a:t>
            </a:r>
          </a:p>
          <a:p>
            <a:r>
              <a:rPr lang="it-IT" sz="2400" b="1" dirty="0"/>
              <a:t>	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0F5869E5-A395-3A83-58C8-72673BCDBE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009" t="4197" r="2009" b="9140"/>
          <a:stretch/>
        </p:blipFill>
        <p:spPr>
          <a:xfrm>
            <a:off x="8090181" y="2623615"/>
            <a:ext cx="2944612" cy="3524764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63EAB1F-112D-3617-2A74-3892A26FEBEF}"/>
              </a:ext>
            </a:extLst>
          </p:cNvPr>
          <p:cNvSpPr txBox="1"/>
          <p:nvPr/>
        </p:nvSpPr>
        <p:spPr>
          <a:xfrm rot="20773792">
            <a:off x="9236987" y="2715250"/>
            <a:ext cx="11623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/>
              <a:t>Like</a:t>
            </a: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CD1B174C-3217-5C2D-3864-570D0D334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3DA80-BF21-C54C-ABCB-ACE05FFC9829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63429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C89C9DE4-8A1A-A15B-6E02-6DDEE54ABD24}"/>
              </a:ext>
            </a:extLst>
          </p:cNvPr>
          <p:cNvSpPr txBox="1"/>
          <p:nvPr/>
        </p:nvSpPr>
        <p:spPr>
          <a:xfrm>
            <a:off x="423619" y="1226993"/>
            <a:ext cx="10890143" cy="2308324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it-IT" sz="2400" b="1" dirty="0">
                <a:solidFill>
                  <a:schemeClr val="tx2">
                    <a:lumMod val="75000"/>
                  </a:schemeClr>
                </a:solidFill>
              </a:rPr>
              <a:t>2. Relazione tra entità</a:t>
            </a:r>
            <a:r>
              <a:rPr lang="it-IT" sz="2400" dirty="0"/>
              <a:t>: esprimibile attraverso un </a:t>
            </a:r>
            <a:r>
              <a:rPr lang="it-IT" sz="2400" b="1" dirty="0"/>
              <a:t>Knowledge </a:t>
            </a:r>
            <a:r>
              <a:rPr lang="it-IT" sz="2400" b="1" dirty="0" err="1"/>
              <a:t>Graph</a:t>
            </a:r>
            <a:r>
              <a:rPr lang="it-IT" sz="2400" b="1" dirty="0"/>
              <a:t> (KG) </a:t>
            </a:r>
            <a:r>
              <a:rPr lang="it-IT" sz="2400" dirty="0"/>
              <a:t>che è una rappresentazione della conoscenza sotto forma di grafo.</a:t>
            </a:r>
          </a:p>
          <a:p>
            <a:pPr algn="just"/>
            <a:endParaRPr lang="it-IT" sz="2400" dirty="0"/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it-IT" sz="2400" b="1" dirty="0"/>
              <a:t>Nodi</a:t>
            </a:r>
            <a:r>
              <a:rPr lang="it-IT" sz="2400" dirty="0"/>
              <a:t>: rappresentano entità o concetti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it-IT" sz="2400" b="1" dirty="0"/>
              <a:t>Archi</a:t>
            </a:r>
            <a:r>
              <a:rPr lang="it-IT" sz="2400" dirty="0"/>
              <a:t>: rappresentano le relazioni tra di essi (es. genere di un film, attore che ha partecipato in un film)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8A0C725-A3F5-0BC9-9E46-F016C6ED6AAD}"/>
              </a:ext>
            </a:extLst>
          </p:cNvPr>
          <p:cNvSpPr txBox="1"/>
          <p:nvPr/>
        </p:nvSpPr>
        <p:spPr>
          <a:xfrm>
            <a:off x="0" y="356212"/>
            <a:ext cx="12191999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900" b="1" spc="-50" dirty="0">
                <a:solidFill>
                  <a:srgbClr val="253A6B"/>
                </a:solidFill>
                <a:latin typeface="Times New Roman"/>
                <a:cs typeface="Times New Roman"/>
              </a:rPr>
              <a:t>FONTI DI INFORMAZIONE PER RAPPRESENTARE UN OGGETTO</a:t>
            </a:r>
          </a:p>
        </p:txBody>
      </p:sp>
      <p:pic>
        <p:nvPicPr>
          <p:cNvPr id="1026" name="Picture 2" descr="A toy example of movie(entity)'s knowledge graph. The latent... | Download  Scientific Diagram">
            <a:extLst>
              <a:ext uri="{FF2B5EF4-FFF2-40B4-BE49-F238E27FC236}">
                <a16:creationId xmlns:a16="http://schemas.microsoft.com/office/drawing/2014/main" id="{546F2122-36A8-5175-0EC1-6C826325FB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3162" y="3301139"/>
            <a:ext cx="4865640" cy="2979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0AFD00A1-D999-2F33-C489-17BB8A7CB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3DA80-BF21-C54C-ABCB-ACE05FFC9829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7646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BDC3D5-ED02-F64B-5A4B-27CAD96A9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4C52DF9-7BBB-4086-9445-24F81FE016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D2FAA73-7C79-E287-57AC-2B6DA56C2116}"/>
              </a:ext>
            </a:extLst>
          </p:cNvPr>
          <p:cNvSpPr txBox="1"/>
          <p:nvPr/>
        </p:nvSpPr>
        <p:spPr>
          <a:xfrm>
            <a:off x="0" y="139670"/>
            <a:ext cx="12192000" cy="7680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900" b="1" spc="-50" dirty="0">
                <a:solidFill>
                  <a:srgbClr val="253A6B"/>
                </a:solidFill>
                <a:latin typeface="Times New Roman"/>
                <a:cs typeface="Times New Roman"/>
              </a:rPr>
              <a:t>FONTI DI INFORMAZIONE PER RAPPRESENTARE UN OGGETTO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DC77CFF-B49F-4BD3-B799-FB82540F93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magine 2">
            <a:extLst>
              <a:ext uri="{FF2B5EF4-FFF2-40B4-BE49-F238E27FC236}">
                <a16:creationId xmlns:a16="http://schemas.microsoft.com/office/drawing/2014/main" id="{BBB42661-8933-9BFA-2828-D138462AC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503" y="1916318"/>
            <a:ext cx="2971095" cy="1908928"/>
          </a:xfrm>
          <a:prstGeom prst="rect">
            <a:avLst/>
          </a:prstGeom>
        </p:spPr>
      </p:pic>
      <p:pic>
        <p:nvPicPr>
          <p:cNvPr id="2" name="Immagine 1">
            <a:extLst>
              <a:ext uri="{FF2B5EF4-FFF2-40B4-BE49-F238E27FC236}">
                <a16:creationId xmlns:a16="http://schemas.microsoft.com/office/drawing/2014/main" id="{B7A807E9-DAA8-81AC-BC61-052A7D2FB3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99237" y="1916318"/>
            <a:ext cx="2341125" cy="3471012"/>
          </a:xfrm>
          <a:prstGeom prst="rect">
            <a:avLst/>
          </a:prstGeom>
          <a:noFill/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FF1F3607-CAD1-C108-D2AE-099C0612CFD1}"/>
              </a:ext>
            </a:extLst>
          </p:cNvPr>
          <p:cNvSpPr txBox="1"/>
          <p:nvPr/>
        </p:nvSpPr>
        <p:spPr>
          <a:xfrm>
            <a:off x="6096001" y="1845734"/>
            <a:ext cx="5823496" cy="4023360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</a:rPr>
              <a:t>3. Testo: </a:t>
            </a:r>
            <a:r>
              <a:rPr lang="en-US" sz="2400" dirty="0"/>
              <a:t>es. la </a:t>
            </a:r>
            <a:r>
              <a:rPr lang="en-US" sz="2400" dirty="0" err="1"/>
              <a:t>trama</a:t>
            </a:r>
            <a:r>
              <a:rPr lang="en-US" sz="2400" dirty="0"/>
              <a:t> di un film, parole o </a:t>
            </a:r>
            <a:r>
              <a:rPr lang="en-US" sz="2400" dirty="0" err="1"/>
              <a:t>contenuti</a:t>
            </a:r>
            <a:r>
              <a:rPr lang="en-US" sz="2400" dirty="0"/>
              <a:t> </a:t>
            </a:r>
            <a:r>
              <a:rPr lang="en-US" sz="2400" dirty="0" err="1"/>
              <a:t>chiave</a:t>
            </a:r>
            <a:r>
              <a:rPr lang="en-US" sz="2400" dirty="0"/>
              <a:t>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endParaRPr lang="en-US" sz="24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</a:rPr>
              <a:t>4. </a:t>
            </a:r>
            <a:r>
              <a:rPr lang="en-US" sz="2400" b="1" dirty="0" err="1">
                <a:solidFill>
                  <a:schemeClr val="tx2">
                    <a:lumMod val="75000"/>
                  </a:schemeClr>
                </a:solidFill>
              </a:rPr>
              <a:t>Immagini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</a:rPr>
              <a:t>: </a:t>
            </a:r>
            <a:r>
              <a:rPr lang="en-US" sz="2400" dirty="0"/>
              <a:t>es. </a:t>
            </a:r>
            <a:r>
              <a:rPr lang="en-US" sz="2400" dirty="0" err="1"/>
              <a:t>Locandine</a:t>
            </a:r>
            <a:r>
              <a:rPr lang="en-US" sz="2400" dirty="0"/>
              <a:t> </a:t>
            </a:r>
            <a:r>
              <a:rPr lang="en-US" sz="2400" dirty="0" err="1"/>
              <a:t>dei</a:t>
            </a:r>
            <a:r>
              <a:rPr lang="en-US" sz="2400" dirty="0"/>
              <a:t> film (Fig. 1)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endParaRPr lang="en-US" sz="24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</a:rPr>
              <a:t>5. Video: </a:t>
            </a:r>
            <a:r>
              <a:rPr lang="en-US" sz="2400" dirty="0"/>
              <a:t>es. Trailer </a:t>
            </a:r>
            <a:r>
              <a:rPr lang="en-US" sz="2400" dirty="0" err="1"/>
              <a:t>dei</a:t>
            </a:r>
            <a:r>
              <a:rPr lang="en-US" sz="2400" dirty="0"/>
              <a:t> film (Fig. 2)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endParaRPr lang="en-US" sz="24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</a:rPr>
              <a:t>6. Audio:  </a:t>
            </a:r>
            <a:r>
              <a:rPr lang="en-US" sz="2400" dirty="0"/>
              <a:t>es. Audio </a:t>
            </a:r>
            <a:r>
              <a:rPr lang="en-US" sz="2400" dirty="0" err="1"/>
              <a:t>dei</a:t>
            </a:r>
            <a:r>
              <a:rPr lang="en-US" sz="2400" dirty="0"/>
              <a:t> trailer, </a:t>
            </a:r>
            <a:r>
              <a:rPr lang="en-US" sz="2400" dirty="0" err="1"/>
              <a:t>colonne</a:t>
            </a:r>
            <a:r>
              <a:rPr lang="en-US" sz="2400" dirty="0"/>
              <a:t> </a:t>
            </a:r>
            <a:r>
              <a:rPr lang="en-US" sz="2400" dirty="0" err="1"/>
              <a:t>sonore</a:t>
            </a:r>
            <a:r>
              <a:rPr lang="en-US" sz="2400" dirty="0"/>
              <a:t>.</a:t>
            </a:r>
            <a:endParaRPr lang="en-US" sz="2400" dirty="0">
              <a:ea typeface="Calibri"/>
              <a:cs typeface="Calibri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11A5B11-7F0F-482F-85FA-5B5DB19F2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rgbClr val="9A5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73D5830-0E43-45BC-A729-059604F9D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5D4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1DB0858-A202-186A-B4C1-5D31C0BD5774}"/>
              </a:ext>
            </a:extLst>
          </p:cNvPr>
          <p:cNvSpPr txBox="1"/>
          <p:nvPr/>
        </p:nvSpPr>
        <p:spPr>
          <a:xfrm>
            <a:off x="3657599" y="5503293"/>
            <a:ext cx="1859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/>
              <a:t>Fig. 1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086986E-0DCF-03EC-8737-7FD92586613D}"/>
              </a:ext>
            </a:extLst>
          </p:cNvPr>
          <p:cNvSpPr txBox="1"/>
          <p:nvPr/>
        </p:nvSpPr>
        <p:spPr>
          <a:xfrm>
            <a:off x="1193532" y="3917605"/>
            <a:ext cx="1456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/>
              <a:t>Fig. 2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B70E293-49F5-4190-C502-3FB666791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3DA80-BF21-C54C-ABCB-ACE05FFC9829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92098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0EF1C9-E785-7599-D876-B4D336F91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22">
            <a:extLst>
              <a:ext uri="{FF2B5EF4-FFF2-40B4-BE49-F238E27FC236}">
                <a16:creationId xmlns:a16="http://schemas.microsoft.com/office/drawing/2014/main" id="{BA069EDE-2CA0-6CE5-49E9-5ADB961C2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3C9C7362-7F74-D872-E65A-091E3B2BDB25}"/>
              </a:ext>
            </a:extLst>
          </p:cNvPr>
          <p:cNvSpPr txBox="1"/>
          <p:nvPr/>
        </p:nvSpPr>
        <p:spPr>
          <a:xfrm>
            <a:off x="0" y="-31862"/>
            <a:ext cx="12192000" cy="8110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spc="-50" dirty="0">
                <a:solidFill>
                  <a:srgbClr val="253A6B"/>
                </a:solidFill>
                <a:latin typeface="Times New Roman"/>
                <a:cs typeface="Times New Roman"/>
              </a:rPr>
              <a:t>EMBEDDING</a:t>
            </a:r>
          </a:p>
        </p:txBody>
      </p:sp>
      <p:cxnSp>
        <p:nvCxnSpPr>
          <p:cNvPr id="32" name="Straight Connector 24">
            <a:extLst>
              <a:ext uri="{FF2B5EF4-FFF2-40B4-BE49-F238E27FC236}">
                <a16:creationId xmlns:a16="http://schemas.microsoft.com/office/drawing/2014/main" id="{4133B95B-5B67-B681-B049-C84C4F3F8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B2206B3-A4B5-6D13-84EB-67B925F80E87}"/>
              </a:ext>
            </a:extLst>
          </p:cNvPr>
          <p:cNvSpPr txBox="1"/>
          <p:nvPr/>
        </p:nvSpPr>
        <p:spPr>
          <a:xfrm>
            <a:off x="5471086" y="1310752"/>
            <a:ext cx="6586595" cy="4236495"/>
          </a:xfrm>
          <a:prstGeom prst="rect">
            <a:avLst/>
          </a:prstGeom>
          <a:solidFill>
            <a:schemeClr val="bg1"/>
          </a:solidFill>
        </p:spPr>
        <p:txBody>
          <a:bodyPr vert="horz" lIns="0" tIns="45720" rIns="0" bIns="45720" rtlCol="0" anchor="t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it-IT" sz="2400" dirty="0"/>
              <a:t>Per ognuna di queste informazioni, esistono tecniche di </a:t>
            </a:r>
            <a:r>
              <a:rPr lang="it-IT" sz="2400" dirty="0" err="1"/>
              <a:t>embedding</a:t>
            </a:r>
            <a:r>
              <a:rPr lang="it-IT" sz="2400" dirty="0"/>
              <a:t> specifiche che permettono di trasformarle in una rappresentazione numerica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endParaRPr lang="en-US" sz="2400" spc="-5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sz="2400" dirty="0"/>
              <a:t>Un</a:t>
            </a:r>
            <a:r>
              <a:rPr lang="en-US" sz="2400" b="1" dirty="0"/>
              <a:t> embedding </a:t>
            </a:r>
            <a:r>
              <a:rPr lang="en-US" sz="2400" dirty="0"/>
              <a:t>è </a:t>
            </a:r>
            <a:r>
              <a:rPr lang="en-US" sz="2400" dirty="0" err="1"/>
              <a:t>una</a:t>
            </a:r>
            <a:r>
              <a:rPr lang="en-US" sz="2400" dirty="0"/>
              <a:t> </a:t>
            </a:r>
            <a:r>
              <a:rPr lang="en-US" sz="2400" dirty="0" err="1"/>
              <a:t>rappresentazione</a:t>
            </a:r>
            <a:r>
              <a:rPr lang="en-US" sz="2400" dirty="0"/>
              <a:t> </a:t>
            </a:r>
            <a:r>
              <a:rPr lang="en-US" sz="2400" dirty="0" err="1"/>
              <a:t>vettoriale</a:t>
            </a:r>
            <a:r>
              <a:rPr lang="en-US" sz="2400" dirty="0"/>
              <a:t> di un </a:t>
            </a:r>
            <a:r>
              <a:rPr lang="en-US" sz="2400" dirty="0" err="1"/>
              <a:t>oggetto</a:t>
            </a:r>
            <a:r>
              <a:rPr lang="en-US" sz="2400" dirty="0"/>
              <a:t> </a:t>
            </a:r>
            <a:r>
              <a:rPr lang="en-US" sz="2400" dirty="0" err="1"/>
              <a:t>che</a:t>
            </a:r>
            <a:r>
              <a:rPr lang="en-US" sz="2400" dirty="0"/>
              <a:t> </a:t>
            </a:r>
            <a:r>
              <a:rPr lang="en-US" sz="2400" dirty="0" err="1"/>
              <a:t>si</a:t>
            </a:r>
            <a:r>
              <a:rPr lang="en-US" sz="2400" dirty="0"/>
              <a:t> </a:t>
            </a:r>
            <a:r>
              <a:rPr lang="en-US" sz="2400" dirty="0" err="1"/>
              <a:t>può</a:t>
            </a:r>
            <a:r>
              <a:rPr lang="en-US" sz="2400" dirty="0"/>
              <a:t> </a:t>
            </a:r>
            <a:r>
              <a:rPr lang="en-US" sz="2400" dirty="0" err="1"/>
              <a:t>ottenere</a:t>
            </a:r>
            <a:r>
              <a:rPr lang="en-US" sz="2400" dirty="0"/>
              <a:t> da </a:t>
            </a:r>
            <a:r>
              <a:rPr lang="en-US" sz="2400" dirty="0" err="1"/>
              <a:t>modelli</a:t>
            </a:r>
            <a:r>
              <a:rPr lang="en-US" sz="2400" dirty="0"/>
              <a:t> di encoding a </a:t>
            </a:r>
            <a:r>
              <a:rPr lang="en-US" sz="2400" dirty="0" err="1"/>
              <a:t>stato</a:t>
            </a:r>
            <a:r>
              <a:rPr lang="en-US" sz="2400" dirty="0"/>
              <a:t> </a:t>
            </a:r>
            <a:r>
              <a:rPr lang="en-US" sz="2400" dirty="0" err="1"/>
              <a:t>d’arte</a:t>
            </a:r>
            <a:r>
              <a:rPr lang="en-US" sz="2400" dirty="0"/>
              <a:t>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endParaRPr lang="en-US" sz="24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sz="2400" dirty="0"/>
              <a:t>Un modo per </a:t>
            </a:r>
            <a:r>
              <a:rPr lang="en-US" sz="2400" dirty="0" err="1"/>
              <a:t>confrontare</a:t>
            </a:r>
            <a:r>
              <a:rPr lang="en-US" sz="2400" dirty="0"/>
              <a:t> </a:t>
            </a:r>
            <a:r>
              <a:rPr lang="en-US" sz="2400" dirty="0" err="1"/>
              <a:t>gli</a:t>
            </a:r>
            <a:r>
              <a:rPr lang="en-US" sz="2400" dirty="0"/>
              <a:t> embedding è </a:t>
            </a:r>
            <a:r>
              <a:rPr lang="en-US" sz="2400" dirty="0" err="1"/>
              <a:t>utilizzare</a:t>
            </a:r>
            <a:r>
              <a:rPr lang="en-US" sz="2400" dirty="0"/>
              <a:t> la </a:t>
            </a:r>
            <a:r>
              <a:rPr lang="en-US" sz="2400" b="1" dirty="0" err="1"/>
              <a:t>similarità</a:t>
            </a:r>
            <a:r>
              <a:rPr lang="en-US" sz="2400" b="1" dirty="0"/>
              <a:t> del </a:t>
            </a:r>
            <a:r>
              <a:rPr lang="en-US" sz="2400" b="1" dirty="0" err="1"/>
              <a:t>coseno</a:t>
            </a:r>
            <a:r>
              <a:rPr lang="en-US" sz="2400" dirty="0"/>
              <a:t>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endParaRPr lang="en-US" sz="24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endParaRPr lang="en-US" sz="24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3" name="Rectangle 26">
            <a:extLst>
              <a:ext uri="{FF2B5EF4-FFF2-40B4-BE49-F238E27FC236}">
                <a16:creationId xmlns:a16="http://schemas.microsoft.com/office/drawing/2014/main" id="{B6A778E3-3750-68EA-4CBF-1B37516EFD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4C541783-6639-DC71-3FCB-3316C56BD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pic>
        <p:nvPicPr>
          <p:cNvPr id="3" name="Immagine 2" descr="Immagine che contiene testo, schermata, diagramma&#10;&#10;Il contenuto generato dall'IA potrebbe non essere corretto.">
            <a:extLst>
              <a:ext uri="{FF2B5EF4-FFF2-40B4-BE49-F238E27FC236}">
                <a16:creationId xmlns:a16="http://schemas.microsoft.com/office/drawing/2014/main" id="{8E29EADA-182F-9E21-08AB-A8F109F642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35"/>
          <a:stretch/>
        </p:blipFill>
        <p:spPr>
          <a:xfrm>
            <a:off x="387273" y="1379819"/>
            <a:ext cx="4773903" cy="3362662"/>
          </a:xfrm>
          <a:prstGeom prst="rect">
            <a:avLst/>
          </a:prstGeom>
        </p:spPr>
      </p:pic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C0DB429-49C6-4477-28CB-49B30114A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3DA80-BF21-C54C-ABCB-ACE05FFC9829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04509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E0A8391-2737-4F1C-B27A-C44629DB4D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E63E2E0-8944-9811-2B89-6132F6CA0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6" y="642257"/>
            <a:ext cx="3417677" cy="5226837"/>
          </a:xfrm>
        </p:spPr>
        <p:txBody>
          <a:bodyPr anchor="t">
            <a:normAutofit/>
          </a:bodyPr>
          <a:lstStyle/>
          <a:p>
            <a:pPr algn="ctr"/>
            <a:r>
              <a:rPr lang="it-IT" sz="4400" b="1" dirty="0">
                <a:solidFill>
                  <a:srgbClr val="253A6B"/>
                </a:solidFill>
                <a:latin typeface="Times New Roman"/>
                <a:ea typeface="+mn-ea"/>
                <a:cs typeface="Times New Roman"/>
              </a:rPr>
              <a:t>Similarità del Coseno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64C9AD8-2D5A-C61A-B6C8-CCCCABEE2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3512" y="642257"/>
            <a:ext cx="6847117" cy="516933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sz="2400" dirty="0">
                <a:solidFill>
                  <a:schemeClr val="tx1"/>
                </a:solidFill>
                <a:cs typeface="Times New Roman" panose="02020603050405020304" pitchFamily="18" charset="0"/>
              </a:rPr>
              <a:t>Misura quanto due vettori sono simili in termini di direzione in uno spazio vettoriale.</a:t>
            </a:r>
          </a:p>
          <a:p>
            <a:pPr marL="0" indent="0">
              <a:buNone/>
            </a:pPr>
            <a:r>
              <a:rPr lang="it-IT" sz="2400" dirty="0">
                <a:solidFill>
                  <a:schemeClr val="tx1"/>
                </a:solidFill>
                <a:cs typeface="Times New Roman" panose="02020603050405020304" pitchFamily="18" charset="0"/>
              </a:rPr>
              <a:t>Varia da -1 a 1, il valore 1 indica la massima similarità.</a:t>
            </a:r>
          </a:p>
          <a:p>
            <a:pPr>
              <a:buFont typeface="Arial" panose="020B0604020202020204" pitchFamily="34" charset="0"/>
              <a:buChar char="•"/>
            </a:pPr>
            <a:endParaRPr lang="it-IT" sz="24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sz="24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it-IT" sz="24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sz="24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A, B</a:t>
            </a:r>
            <a:r>
              <a:rPr lang="it-IT" sz="2400" dirty="0">
                <a:solidFill>
                  <a:schemeClr val="tx1"/>
                </a:solidFill>
                <a:cs typeface="Times New Roman" panose="02020603050405020304" pitchFamily="18" charset="0"/>
              </a:rPr>
              <a:t> = vettori da confrontare</a:t>
            </a:r>
          </a:p>
          <a:p>
            <a:pPr marL="0" indent="0">
              <a:buNone/>
            </a:pPr>
            <a:r>
              <a:rPr lang="it-IT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A · B</a:t>
            </a:r>
            <a:r>
              <a:rPr lang="it-IT" sz="2400" dirty="0">
                <a:solidFill>
                  <a:schemeClr val="tx1"/>
                </a:solidFill>
                <a:cs typeface="Times New Roman" panose="02020603050405020304" pitchFamily="18" charset="0"/>
              </a:rPr>
              <a:t> = prodotto scalare</a:t>
            </a:r>
          </a:p>
          <a:p>
            <a:pPr marL="0" indent="0">
              <a:buNone/>
            </a:pPr>
            <a:r>
              <a:rPr lang="it-IT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‖A‖, ‖B‖</a:t>
            </a:r>
            <a:r>
              <a:rPr lang="it-IT" sz="2400" dirty="0">
                <a:solidFill>
                  <a:schemeClr val="tx1"/>
                </a:solidFill>
                <a:cs typeface="Times New Roman" panose="02020603050405020304" pitchFamily="18" charset="0"/>
              </a:rPr>
              <a:t> = norme (lunghezze) dei vettori</a:t>
            </a:r>
          </a:p>
          <a:p>
            <a:pPr marL="0" indent="0">
              <a:buNone/>
            </a:pPr>
            <a:r>
              <a:rPr lang="it-IT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θ</a:t>
            </a:r>
            <a:r>
              <a:rPr lang="it-IT" sz="2400" dirty="0">
                <a:solidFill>
                  <a:schemeClr val="tx1"/>
                </a:solidFill>
                <a:cs typeface="Times New Roman" panose="02020603050405020304" pitchFamily="18" charset="0"/>
              </a:rPr>
              <a:t> = angolo tra i vettori</a:t>
            </a:r>
          </a:p>
          <a:p>
            <a:endParaRPr lang="it-IT" sz="17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9B227025-1AAD-EE50-D30B-F2EC13EDF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836" y="1986009"/>
            <a:ext cx="5472121" cy="144299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75DDEB2-8C7E-4057-BACC-E31322D8B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18A5EE-3B62-4E05-A9DD-88EB7DD682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D82996A-5198-5A0B-9335-88BD9E8E1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3DA80-BF21-C54C-ABCB-ACE05FFC9829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5426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5">
          <a:extLst>
            <a:ext uri="{FF2B5EF4-FFF2-40B4-BE49-F238E27FC236}">
              <a16:creationId xmlns:a16="http://schemas.microsoft.com/office/drawing/2014/main" id="{03805974-9EED-52CF-A842-9B766C4EA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9" name="Rectangle 102">
            <a:extLst>
              <a:ext uri="{FF2B5EF4-FFF2-40B4-BE49-F238E27FC236}">
                <a16:creationId xmlns:a16="http://schemas.microsoft.com/office/drawing/2014/main" id="{C843AFC8-D8D0-4784-B08C-6324FA88E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4">
            <a:extLst>
              <a:ext uri="{FF2B5EF4-FFF2-40B4-BE49-F238E27FC236}">
                <a16:creationId xmlns:a16="http://schemas.microsoft.com/office/drawing/2014/main" id="{F8E828FC-05B4-4BA4-92D3-3DF79D42D8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53478" cy="6858000"/>
          </a:xfrm>
          <a:prstGeom prst="rect">
            <a:avLst/>
          </a:prstGeom>
          <a:solidFill>
            <a:schemeClr val="tx1">
              <a:lumMod val="75000"/>
              <a:lumOff val="2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06">
            <a:extLst>
              <a:ext uri="{FF2B5EF4-FFF2-40B4-BE49-F238E27FC236}">
                <a16:creationId xmlns:a16="http://schemas.microsoft.com/office/drawing/2014/main" id="{854B1A56-8AFB-4D4F-8D98-1E832D6FFE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3478" y="0"/>
            <a:ext cx="465738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Google Shape;98;p3">
            <a:extLst>
              <a:ext uri="{FF2B5EF4-FFF2-40B4-BE49-F238E27FC236}">
                <a16:creationId xmlns:a16="http://schemas.microsoft.com/office/drawing/2014/main" id="{76B1C110-55D0-90F6-14B9-1FE115F888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20518" y="879278"/>
            <a:ext cx="3720353" cy="4634494"/>
          </a:xfrm>
          <a:prstGeom prst="rect">
            <a:avLst/>
          </a:prstGeom>
          <a:ln w="25400" cap="sq">
            <a:noFill/>
            <a:miter lim="800000"/>
          </a:ln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algn="ctr">
              <a:buClr>
                <a:srgbClr val="253A6B"/>
              </a:buClr>
              <a:buSzPts val="5600"/>
            </a:pPr>
            <a:br>
              <a:rPr lang="en-US" sz="3200" b="1" dirty="0">
                <a:solidFill>
                  <a:srgbClr val="FFFFFF"/>
                </a:solidFill>
              </a:rPr>
            </a:br>
            <a:br>
              <a:rPr lang="en-US" sz="3200" b="1" dirty="0">
                <a:solidFill>
                  <a:srgbClr val="FFFFFF"/>
                </a:solidFill>
              </a:rPr>
            </a:br>
            <a:r>
              <a:rPr lang="en-US" sz="4000" b="1" dirty="0">
                <a:solidFill>
                  <a:srgbClr val="FFFFFF"/>
                </a:solidFill>
              </a:rPr>
              <a:t>OBIETTIVO TESI</a:t>
            </a:r>
            <a:br>
              <a:rPr lang="en-US" sz="3200" b="1" dirty="0">
                <a:solidFill>
                  <a:srgbClr val="FFFFFF"/>
                </a:solidFill>
              </a:rPr>
            </a:br>
            <a:r>
              <a:rPr lang="en-US" sz="3200" b="1" dirty="0">
                <a:solidFill>
                  <a:srgbClr val="FFFFFF"/>
                </a:solidFill>
                <a:sym typeface="Times New Roman"/>
              </a:rPr>
              <a:t> 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78A8FA1-CF57-FCE5-C172-F7D1CE57B1EC}"/>
              </a:ext>
            </a:extLst>
          </p:cNvPr>
          <p:cNvSpPr txBox="1"/>
          <p:nvPr/>
        </p:nvSpPr>
        <p:spPr>
          <a:xfrm>
            <a:off x="6570206" y="1111753"/>
            <a:ext cx="5057396" cy="4628275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sz="4000" b="1" spc="-50" dirty="0">
                <a:solidFill>
                  <a:schemeClr val="tx2">
                    <a:lumMod val="75000"/>
                  </a:schemeClr>
                </a:solidFill>
              </a:rPr>
              <a:t>QUALE DI QUESTE FONTI DI INFORMAZIONE </a:t>
            </a:r>
            <a:r>
              <a:rPr lang="it-IT" sz="4000" b="1" spc="-50" dirty="0">
                <a:solidFill>
                  <a:schemeClr val="tx2">
                    <a:lumMod val="75000"/>
                  </a:schemeClr>
                </a:solidFill>
              </a:rPr>
              <a:t>È </a:t>
            </a:r>
            <a:r>
              <a:rPr lang="en-US" sz="4000" b="1" spc="-50" dirty="0">
                <a:solidFill>
                  <a:schemeClr val="tx2">
                    <a:lumMod val="75000"/>
                  </a:schemeClr>
                </a:solidFill>
              </a:rPr>
              <a:t>LA MIGLIORE PER  RAPPRESENTARE UN OGGETTO?</a:t>
            </a: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E3086443-ACBE-F9CE-2DA6-CE76C6FE0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2820" y="6296279"/>
            <a:ext cx="63098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fld id="{F1C3DA80-BF21-C54C-ABCB-ACE05FFC9829}" type="slidenum"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pPr algn="l">
                <a:spcAft>
                  <a:spcPts val="600"/>
                </a:spcAft>
              </a:pPr>
              <a:t>12</a:t>
            </a:fld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1085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F6841219-CDDE-6DA3-5265-E7564D480A4B}"/>
              </a:ext>
            </a:extLst>
          </p:cNvPr>
          <p:cNvSpPr txBox="1"/>
          <p:nvPr/>
        </p:nvSpPr>
        <p:spPr>
          <a:xfrm>
            <a:off x="325464" y="1162121"/>
            <a:ext cx="11403992" cy="207516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it-IT" dirty="0"/>
          </a:p>
        </p:txBody>
      </p:sp>
      <p:sp>
        <p:nvSpPr>
          <p:cNvPr id="98" name="Google Shape;98;p3"/>
          <p:cNvSpPr txBox="1">
            <a:spLocks noGrp="1"/>
          </p:cNvSpPr>
          <p:nvPr>
            <p:ph type="title"/>
          </p:nvPr>
        </p:nvSpPr>
        <p:spPr>
          <a:xfrm>
            <a:off x="0" y="277914"/>
            <a:ext cx="12192000" cy="1224365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algn="ctr">
              <a:spcAft>
                <a:spcPts val="0"/>
              </a:spcAft>
              <a:buClr>
                <a:srgbClr val="253A6B"/>
              </a:buClr>
              <a:buSzPts val="5600"/>
            </a:pPr>
            <a:r>
              <a:rPr lang="en-US" sz="4400" b="1" dirty="0">
                <a:solidFill>
                  <a:srgbClr val="253A6B"/>
                </a:solidFill>
                <a:latin typeface="Times New Roman"/>
                <a:ea typeface="+mn-ea"/>
                <a:cs typeface="Times New Roman"/>
                <a:sym typeface="Times New Roman"/>
              </a:rPr>
              <a:t>ANALISI QUALITATIVA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8DA2B0D3-15A0-6BC9-64DE-82247D2444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474" y="1452051"/>
            <a:ext cx="1204631" cy="1785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6EB8A03C-4B10-D88B-00AE-CD1FF5EE82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2227" y="1452051"/>
            <a:ext cx="1176655" cy="1803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3BF03E05-CB1C-5F94-156A-35E19D18DD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8230" y="1452051"/>
            <a:ext cx="1169670" cy="1803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2F971793-6BC4-E630-F09A-E23F583013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7248" y="1511773"/>
            <a:ext cx="1184275" cy="174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7A6A417A-6610-7238-134A-8EAFF878279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0871" y="1524185"/>
            <a:ext cx="1180465" cy="1731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0318DA3C-AB92-CE03-F5AB-6CD090E8E84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2563" y="1524059"/>
            <a:ext cx="1155065" cy="171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7FFDA2E4-E36C-803E-9BBF-C6A2737A80C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8855" y="1511773"/>
            <a:ext cx="1162685" cy="171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45FC43DB-2C6B-9E1F-55D1-F50F0D885D6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3782" y="1452051"/>
            <a:ext cx="1169670" cy="173101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131F9D77-F5C4-DFC7-F5FD-1CA36544DDA4}"/>
              </a:ext>
            </a:extLst>
          </p:cNvPr>
          <p:cNvSpPr txBox="1"/>
          <p:nvPr/>
        </p:nvSpPr>
        <p:spPr>
          <a:xfrm>
            <a:off x="119461" y="3655583"/>
            <a:ext cx="12192000" cy="1630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it-IT" sz="2300" b="1" dirty="0"/>
              <a:t>Scelta del campione</a:t>
            </a:r>
            <a:r>
              <a:rPr lang="it-IT" sz="2300" dirty="0"/>
              <a:t>: Selezione di otto film dal dataset «</a:t>
            </a:r>
            <a:r>
              <a:rPr lang="it-IT" sz="2300" dirty="0" err="1"/>
              <a:t>Movielens</a:t>
            </a:r>
            <a:r>
              <a:rPr lang="it-IT" sz="2300" dirty="0"/>
              <a:t>»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it-IT" sz="2300" b="1" dirty="0"/>
              <a:t>Criteri di scelta</a:t>
            </a:r>
            <a:r>
              <a:rPr lang="it-IT" sz="2300" dirty="0"/>
              <a:t>: Diversità di genere, tecnica e periodo di produzione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it-IT" sz="2300" b="1" dirty="0"/>
              <a:t>Scopo</a:t>
            </a:r>
            <a:r>
              <a:rPr lang="it-IT" sz="2300" dirty="0"/>
              <a:t>: Verificare se gli </a:t>
            </a:r>
            <a:r>
              <a:rPr lang="it-IT" sz="2300" dirty="0" err="1"/>
              <a:t>embedding</a:t>
            </a:r>
            <a:r>
              <a:rPr lang="it-IT" sz="2300" dirty="0"/>
              <a:t> provenienti da sorgenti diverse riflettano le similarità tra i film.</a:t>
            </a: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7250F64F-B592-31BC-6198-450C8413C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3DA80-BF21-C54C-ABCB-ACE05FFC9829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3967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3D3304-D0D9-9958-8F35-718955926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734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 b="1" dirty="0">
                <a:solidFill>
                  <a:srgbClr val="253A6B"/>
                </a:solidFill>
                <a:latin typeface="Times New Roman"/>
                <a:ea typeface="+mn-ea"/>
                <a:cs typeface="Times New Roman"/>
              </a:rPr>
              <a:t>ANALISI QUALITATIVA: METODO</a:t>
            </a:r>
          </a:p>
        </p:txBody>
      </p:sp>
      <p:graphicFrame>
        <p:nvGraphicFramePr>
          <p:cNvPr id="16" name="CasellaDiTesto 3">
            <a:extLst>
              <a:ext uri="{FF2B5EF4-FFF2-40B4-BE49-F238E27FC236}">
                <a16:creationId xmlns:a16="http://schemas.microsoft.com/office/drawing/2014/main" id="{153439A1-F312-FDE1-74E3-605037CCDC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4302784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FE4FE99C-E873-A9D8-3744-4086624B0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3DA80-BF21-C54C-ABCB-ACE05FFC9829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57423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BAB9B-FB2B-99C5-5483-2788F7FA0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6FCBE8C7-D26E-4163-E242-52E83DAE54E0}"/>
              </a:ext>
            </a:extLst>
          </p:cNvPr>
          <p:cNvSpPr txBox="1"/>
          <p:nvPr/>
        </p:nvSpPr>
        <p:spPr>
          <a:xfrm>
            <a:off x="573436" y="1296774"/>
            <a:ext cx="11422251" cy="4862870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it-IT" sz="2200" b="1" dirty="0"/>
              <a:t>1. Grafo user-item (IG) e Knowledge </a:t>
            </a:r>
            <a:r>
              <a:rPr lang="it-IT" sz="2200" b="1" dirty="0" err="1"/>
              <a:t>Graph</a:t>
            </a:r>
            <a:r>
              <a:rPr lang="it-IT" sz="2200" b="1" dirty="0"/>
              <a:t> (KG) - encoder: </a:t>
            </a:r>
            <a:r>
              <a:rPr lang="it-IT" sz="2200" b="1" dirty="0" err="1"/>
              <a:t>CompGCN</a:t>
            </a:r>
            <a:endParaRPr lang="it-IT" sz="2200" dirty="0" err="1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200" b="1" dirty="0"/>
              <a:t>Caratteristiche</a:t>
            </a:r>
            <a:r>
              <a:rPr lang="it-IT" sz="2200" dirty="0"/>
              <a:t>: Suggerimenti molto pertinenti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2200" dirty="0"/>
              <a:t>    </a:t>
            </a:r>
            <a:r>
              <a:rPr lang="it-IT" sz="2200" b="1" dirty="0"/>
              <a:t>Esempi</a:t>
            </a:r>
            <a:r>
              <a:rPr lang="it-IT" sz="2200" dirty="0"/>
              <a:t>:</a:t>
            </a:r>
          </a:p>
          <a:p>
            <a:pPr lvl="1"/>
            <a:r>
              <a:rPr lang="it-IT" sz="2200" i="1" dirty="0"/>
              <a:t>Pulp Fiction</a:t>
            </a:r>
            <a:r>
              <a:rPr lang="it-IT" sz="2200" dirty="0"/>
              <a:t> → </a:t>
            </a:r>
            <a:r>
              <a:rPr lang="it-IT" sz="2200" i="1" dirty="0"/>
              <a:t>Reservoir Dogs</a:t>
            </a:r>
            <a:r>
              <a:rPr lang="it-IT" sz="2200" dirty="0"/>
              <a:t> (stesso regista, stesso genere)</a:t>
            </a:r>
          </a:p>
          <a:p>
            <a:pPr lvl="1"/>
            <a:r>
              <a:rPr lang="it-IT" sz="2200" i="1" dirty="0" err="1"/>
              <a:t>Jumanji</a:t>
            </a:r>
            <a:r>
              <a:rPr lang="it-IT" sz="2200" dirty="0"/>
              <a:t> → </a:t>
            </a:r>
            <a:r>
              <a:rPr lang="it-IT" sz="2200" i="1" dirty="0"/>
              <a:t>Hook</a:t>
            </a:r>
            <a:r>
              <a:rPr lang="it-IT" sz="2200" dirty="0"/>
              <a:t> (genere Fantasy, target simile, stesso attore Robin Williams)</a:t>
            </a:r>
          </a:p>
          <a:p>
            <a:pPr lvl="1"/>
            <a:endParaRPr lang="it-IT" sz="2200" dirty="0"/>
          </a:p>
          <a:p>
            <a:pPr>
              <a:lnSpc>
                <a:spcPct val="150000"/>
              </a:lnSpc>
              <a:buNone/>
            </a:pPr>
            <a:r>
              <a:rPr lang="it-IT" sz="2200" b="1" dirty="0"/>
              <a:t>2. Audio (</a:t>
            </a:r>
            <a:r>
              <a:rPr lang="it-IT" sz="2200" b="1" dirty="0" err="1"/>
              <a:t>VGGish</a:t>
            </a:r>
            <a:r>
              <a:rPr lang="it-IT" sz="2200" b="1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200" b="1" dirty="0"/>
              <a:t>Caratteristiche</a:t>
            </a:r>
            <a:r>
              <a:rPr lang="it-IT" sz="2200" dirty="0"/>
              <a:t>:</a:t>
            </a:r>
          </a:p>
          <a:p>
            <a:r>
              <a:rPr lang="it-IT" sz="2200" dirty="0"/>
              <a:t>	Suggerimenti con alta similarità rispetto all’audio e ad effetti sonori che enfatizzano 	drammaticità, tensione, leggerezza, avventura.</a:t>
            </a:r>
          </a:p>
          <a:p>
            <a:r>
              <a:rPr lang="it-IT" sz="2200" dirty="0"/>
              <a:t>	Le Somiglianze risultano troppo generiche con bassa pertinenza rispetto ad altre caratteristiche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200" i="1" dirty="0"/>
              <a:t> </a:t>
            </a:r>
            <a:r>
              <a:rPr lang="it-IT" sz="2200" b="1" dirty="0"/>
              <a:t>Esempi:</a:t>
            </a:r>
          </a:p>
          <a:p>
            <a:pPr lvl="1"/>
            <a:r>
              <a:rPr lang="it-IT" sz="2200" dirty="0"/>
              <a:t>Per </a:t>
            </a:r>
            <a:r>
              <a:rPr lang="it-IT" sz="2200" i="1" dirty="0" err="1"/>
              <a:t>Jumanji</a:t>
            </a:r>
            <a:r>
              <a:rPr lang="it-IT" sz="2200" dirty="0"/>
              <a:t> consiglia </a:t>
            </a:r>
            <a:r>
              <a:rPr lang="it-IT" sz="2200" i="1" dirty="0" err="1"/>
              <a:t>Heat</a:t>
            </a:r>
            <a:r>
              <a:rPr lang="it-IT" sz="2200" dirty="0"/>
              <a:t> e </a:t>
            </a:r>
            <a:r>
              <a:rPr lang="it-IT" sz="2200" i="1" dirty="0" err="1"/>
              <a:t>GoldenEye</a:t>
            </a:r>
            <a:r>
              <a:rPr lang="it-IT" sz="2200" dirty="0"/>
              <a:t> (non correlati per genere o tono</a:t>
            </a:r>
            <a:r>
              <a:rPr lang="it-IT" sz="2400" dirty="0"/>
              <a:t>).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04C9312-35AE-BD25-0177-D60055C4C0E7}"/>
              </a:ext>
            </a:extLst>
          </p:cNvPr>
          <p:cNvSpPr txBox="1"/>
          <p:nvPr/>
        </p:nvSpPr>
        <p:spPr>
          <a:xfrm>
            <a:off x="0" y="0"/>
            <a:ext cx="12192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b="1" spc="-50" dirty="0">
                <a:solidFill>
                  <a:srgbClr val="253A6B"/>
                </a:solidFill>
                <a:latin typeface="Times New Roman"/>
                <a:cs typeface="Times New Roman"/>
              </a:rPr>
              <a:t>ANALISI QUALITATIVA: RISULTATI PRELIMINARI</a:t>
            </a: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B099E8D4-9708-515A-F4CF-99D807ABC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3DA80-BF21-C54C-ABCB-ACE05FFC9829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97130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568F9-02F1-6879-BEB8-970DB39C4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F5B0F5C1-58CD-B34C-3EFD-D65694620E20}"/>
              </a:ext>
            </a:extLst>
          </p:cNvPr>
          <p:cNvSpPr txBox="1"/>
          <p:nvPr/>
        </p:nvSpPr>
        <p:spPr>
          <a:xfrm>
            <a:off x="588934" y="1446550"/>
            <a:ext cx="11422251" cy="4324261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endParaRPr lang="it-IT" sz="2200" b="1" dirty="0"/>
          </a:p>
          <a:p>
            <a:r>
              <a:rPr lang="it-IT" sz="2200" b="1" dirty="0"/>
              <a:t>3. Video - encoder: R(2+1)D</a:t>
            </a:r>
            <a:endParaRPr lang="it-IT" sz="22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200" b="1" dirty="0"/>
              <a:t>Caratteristiche</a:t>
            </a:r>
            <a:r>
              <a:rPr lang="it-IT" sz="2200" dirty="0"/>
              <a:t>: </a:t>
            </a:r>
          </a:p>
          <a:p>
            <a:r>
              <a:rPr lang="it-IT" sz="2200" dirty="0"/>
              <a:t>     Originalità nelle raccomandazioni.</a:t>
            </a:r>
          </a:p>
          <a:p>
            <a:r>
              <a:rPr lang="it-IT" sz="2200" dirty="0"/>
              <a:t>     Risulta eccellente su trailer con elementi visivi ben definiti.</a:t>
            </a:r>
          </a:p>
          <a:p>
            <a:r>
              <a:rPr lang="it-IT" sz="2200" dirty="0"/>
              <a:t>     Meno preciso su film con tematiche complesse dando similarità più generiche.</a:t>
            </a:r>
          </a:p>
          <a:p>
            <a:endParaRPr lang="it-IT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200" b="1" dirty="0"/>
              <a:t>Esempi</a:t>
            </a:r>
            <a:r>
              <a:rPr lang="it-IT" sz="2200" dirty="0"/>
              <a:t>:</a:t>
            </a:r>
          </a:p>
          <a:p>
            <a:r>
              <a:rPr lang="it-IT" sz="2200" dirty="0"/>
              <a:t>      Space Jam --&gt; Film tutti a tema basket, indirizzati a un pubblico giovanile, con elementi animati</a:t>
            </a:r>
            <a:endParaRPr lang="it-IT" sz="2200" dirty="0">
              <a:ea typeface="Calibri"/>
              <a:cs typeface="Calibri"/>
            </a:endParaRPr>
          </a:p>
          <a:p>
            <a:r>
              <a:rPr lang="it-IT" sz="2200" dirty="0"/>
              <a:t>      Toy Story --&gt; suggerimenti genere d’animazione</a:t>
            </a:r>
          </a:p>
          <a:p>
            <a:pPr lvl="1"/>
            <a:endParaRPr lang="it-IT" sz="2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it-IT" sz="2200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5236FAF-B3E2-6254-50B5-A735CC07F6EA}"/>
              </a:ext>
            </a:extLst>
          </p:cNvPr>
          <p:cNvSpPr txBox="1"/>
          <p:nvPr/>
        </p:nvSpPr>
        <p:spPr>
          <a:xfrm>
            <a:off x="-123987" y="0"/>
            <a:ext cx="1284809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b="1" spc="-50" dirty="0">
                <a:solidFill>
                  <a:srgbClr val="253A6B"/>
                </a:solidFill>
                <a:latin typeface="Times New Roman"/>
                <a:cs typeface="Times New Roman"/>
              </a:rPr>
              <a:t>ANALISI QUALITATIVA: RISULTATI PRELIMINARI</a:t>
            </a: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6D379C5F-EF36-4347-60B9-D6D9A6F08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3DA80-BF21-C54C-ABCB-ACE05FFC9829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54928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74A28-BEFC-E563-D6FF-6E3607FD7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9BF3F265-608F-2481-323F-87EA3E162170}"/>
              </a:ext>
            </a:extLst>
          </p:cNvPr>
          <p:cNvSpPr txBox="1"/>
          <p:nvPr/>
        </p:nvSpPr>
        <p:spPr>
          <a:xfrm>
            <a:off x="5603183" y="1656533"/>
            <a:ext cx="6408003" cy="4475071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200" b="1" dirty="0"/>
              <a:t>4. Testo - encoder: SBERT</a:t>
            </a:r>
            <a:endParaRPr lang="it-IT" sz="22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200" b="1" dirty="0"/>
              <a:t>Caratteristiche</a:t>
            </a:r>
            <a:r>
              <a:rPr lang="it-IT" sz="2200" dirty="0"/>
              <a:t>:</a:t>
            </a:r>
          </a:p>
          <a:p>
            <a:pPr lvl="1"/>
            <a:r>
              <a:rPr lang="en-US" sz="2200" dirty="0"/>
              <a:t>Film </a:t>
            </a:r>
            <a:r>
              <a:rPr lang="en-US" sz="2200" dirty="0" err="1"/>
              <a:t>accomunati</a:t>
            </a:r>
            <a:r>
              <a:rPr lang="en-US" sz="2200" dirty="0"/>
              <a:t> per </a:t>
            </a:r>
            <a:r>
              <a:rPr lang="en-US" sz="2200" dirty="0" err="1"/>
              <a:t>tematiche</a:t>
            </a:r>
            <a:r>
              <a:rPr lang="en-US" sz="2200" dirty="0"/>
              <a:t> </a:t>
            </a:r>
            <a:r>
              <a:rPr lang="en-US" sz="2200" dirty="0" err="1"/>
              <a:t>generiche</a:t>
            </a:r>
            <a:r>
              <a:rPr lang="en-US" sz="2200" dirty="0"/>
              <a:t> </a:t>
            </a:r>
          </a:p>
          <a:p>
            <a:pPr lvl="1"/>
            <a:r>
              <a:rPr lang="en-US" sz="2200" dirty="0"/>
              <a:t>(es. amore, </a:t>
            </a:r>
            <a:r>
              <a:rPr lang="en-US" sz="2200" dirty="0" err="1"/>
              <a:t>avventura</a:t>
            </a:r>
            <a:r>
              <a:rPr lang="en-US" sz="2200" dirty="0"/>
              <a:t>, </a:t>
            </a:r>
            <a:r>
              <a:rPr lang="en-US" sz="2200" dirty="0" err="1"/>
              <a:t>storie</a:t>
            </a:r>
            <a:r>
              <a:rPr lang="en-US" sz="2200" dirty="0"/>
              <a:t> </a:t>
            </a:r>
            <a:r>
              <a:rPr lang="en-US" sz="2200" dirty="0" err="1"/>
              <a:t>personali</a:t>
            </a:r>
            <a:r>
              <a:rPr lang="en-US" sz="2200" dirty="0"/>
              <a:t>)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ü"/>
            </a:pPr>
            <a:r>
              <a:rPr lang="en-US" sz="2200" dirty="0"/>
              <a:t>  </a:t>
            </a:r>
            <a:r>
              <a:rPr lang="en-US" sz="2200" dirty="0" err="1"/>
              <a:t>Tendenza</a:t>
            </a:r>
            <a:r>
              <a:rPr lang="en-US" sz="2200" dirty="0"/>
              <a:t> ad </a:t>
            </a:r>
            <a:r>
              <a:rPr lang="en-US" sz="2200" dirty="0" err="1"/>
              <a:t>ignorare</a:t>
            </a:r>
            <a:r>
              <a:rPr lang="en-US" sz="2200" dirty="0"/>
              <a:t> il </a:t>
            </a:r>
            <a:r>
              <a:rPr lang="en-US" sz="2200" dirty="0" err="1"/>
              <a:t>genere</a:t>
            </a:r>
            <a:r>
              <a:rPr lang="en-US" sz="2200" dirty="0"/>
              <a:t> e il </a:t>
            </a:r>
            <a:r>
              <a:rPr lang="en-US" sz="2200" dirty="0" err="1"/>
              <a:t>tono</a:t>
            </a:r>
            <a:r>
              <a:rPr lang="en-US" sz="2200" dirty="0"/>
              <a:t> </a:t>
            </a:r>
            <a:r>
              <a:rPr lang="en-US" sz="2200" dirty="0" err="1"/>
              <a:t>narrativo</a:t>
            </a:r>
            <a:r>
              <a:rPr lang="en-US" sz="2200" dirty="0"/>
              <a:t>.</a:t>
            </a:r>
            <a:endParaRPr lang="it-IT" sz="22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200" dirty="0"/>
              <a:t>    </a:t>
            </a:r>
            <a:r>
              <a:rPr lang="it-IT" sz="2200" b="1" dirty="0"/>
              <a:t>Esempi</a:t>
            </a:r>
            <a:r>
              <a:rPr lang="it-IT" sz="2200" dirty="0"/>
              <a:t>:</a:t>
            </a:r>
          </a:p>
          <a:p>
            <a:r>
              <a:rPr lang="en-US" sz="2000" i="1" dirty="0"/>
              <a:t>	</a:t>
            </a:r>
            <a:r>
              <a:rPr lang="en-US" sz="2200" i="1" dirty="0"/>
              <a:t>Toy Story 2 → Child’s Play 3</a:t>
            </a:r>
            <a:br>
              <a:rPr lang="en-US" sz="2200" i="1" dirty="0"/>
            </a:br>
            <a:r>
              <a:rPr lang="en-US" sz="2200" dirty="0"/>
              <a:t>	</a:t>
            </a:r>
            <a:r>
              <a:rPr lang="en-US" sz="2200" dirty="0" err="1"/>
              <a:t>Associazione</a:t>
            </a:r>
            <a:r>
              <a:rPr lang="en-US" sz="2200" dirty="0"/>
              <a:t> </a:t>
            </a:r>
            <a:r>
              <a:rPr lang="en-US" sz="2200" dirty="0" err="1"/>
              <a:t>basata</a:t>
            </a:r>
            <a:r>
              <a:rPr lang="en-US" sz="2200" dirty="0"/>
              <a:t> </a:t>
            </a:r>
            <a:r>
              <a:rPr lang="en-US" sz="2200" dirty="0" err="1"/>
              <a:t>su</a:t>
            </a:r>
            <a:r>
              <a:rPr lang="en-US" sz="2200" dirty="0"/>
              <a:t> </a:t>
            </a:r>
            <a:r>
              <a:rPr lang="en-US" sz="2200" dirty="0" err="1"/>
              <a:t>elementi</a:t>
            </a:r>
            <a:r>
              <a:rPr lang="en-US" sz="2200" dirty="0"/>
              <a:t> </a:t>
            </a:r>
            <a:r>
              <a:rPr lang="en-US" sz="2200" dirty="0" err="1"/>
              <a:t>comuni</a:t>
            </a:r>
            <a:r>
              <a:rPr lang="en-US" sz="2200" dirty="0"/>
              <a:t> 	(</a:t>
            </a:r>
            <a:r>
              <a:rPr lang="en-US" sz="2200" dirty="0" err="1"/>
              <a:t>giocattoli</a:t>
            </a:r>
            <a:r>
              <a:rPr lang="en-US" sz="2200" dirty="0"/>
              <a:t>, </a:t>
            </a:r>
            <a:r>
              <a:rPr lang="en-US" sz="2200" dirty="0" err="1"/>
              <a:t>oggetti</a:t>
            </a:r>
            <a:r>
              <a:rPr lang="en-US" sz="2200" dirty="0"/>
              <a:t> </a:t>
            </a:r>
            <a:r>
              <a:rPr lang="en-US" sz="2200" dirty="0" err="1"/>
              <a:t>animati</a:t>
            </a:r>
            <a:r>
              <a:rPr lang="en-US" sz="2200" dirty="0"/>
              <a:t>), ma </a:t>
            </a:r>
            <a:r>
              <a:rPr lang="en-US" sz="2200" dirty="0" err="1"/>
              <a:t>tono</a:t>
            </a:r>
            <a:r>
              <a:rPr lang="en-US" sz="2200" dirty="0"/>
              <a:t> e </a:t>
            </a:r>
            <a:r>
              <a:rPr lang="en-US" sz="2200" dirty="0" err="1"/>
              <a:t>pubblico</a:t>
            </a:r>
            <a:r>
              <a:rPr lang="en-US" sz="2200" dirty="0"/>
              <a:t> 	</a:t>
            </a:r>
            <a:r>
              <a:rPr lang="en-US" sz="2200" dirty="0" err="1"/>
              <a:t>opposti</a:t>
            </a:r>
            <a:endParaRPr lang="it-IT" sz="2200" dirty="0"/>
          </a:p>
          <a:p>
            <a:pPr lvl="1">
              <a:buFont typeface="Arial" panose="020B0604020202020204" pitchFamily="34" charset="0"/>
              <a:buChar char="•"/>
            </a:pPr>
            <a:endParaRPr lang="it-IT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it-IT" sz="2200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2025D57-EFE8-BCE6-986C-78D894AC2F71}"/>
              </a:ext>
            </a:extLst>
          </p:cNvPr>
          <p:cNvSpPr txBox="1"/>
          <p:nvPr/>
        </p:nvSpPr>
        <p:spPr>
          <a:xfrm>
            <a:off x="-123987" y="0"/>
            <a:ext cx="1284809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b="1" spc="-50">
                <a:solidFill>
                  <a:srgbClr val="253A6B"/>
                </a:solidFill>
                <a:latin typeface="Times New Roman"/>
                <a:cs typeface="Times New Roman"/>
              </a:rPr>
              <a:t>ANALISI QUALITATIVA: RISULTATI PRELIMINARI</a:t>
            </a:r>
            <a:endParaRPr lang="it-IT" sz="4400" b="1" spc="-50" dirty="0">
              <a:solidFill>
                <a:srgbClr val="253A6B"/>
              </a:solidFill>
              <a:latin typeface="Times New Roman"/>
              <a:cs typeface="Times New Roman"/>
            </a:endParaRP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0418AFF0-C0F2-063C-40F6-16535D297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3DA80-BF21-C54C-ABCB-ACE05FFC9829}" type="slidenum">
              <a:rPr lang="it-IT" smtClean="0"/>
              <a:t>17</a:t>
            </a:fld>
            <a:endParaRPr lang="it-IT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9D0C520B-E009-3BEE-3E20-4228ACC6B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14" y="1656533"/>
            <a:ext cx="5422369" cy="3876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0707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5ED1F-70C6-8AF8-BB5E-E50FC52A0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E7240DEF-1099-6C90-F632-F12085A20741}"/>
              </a:ext>
            </a:extLst>
          </p:cNvPr>
          <p:cNvSpPr txBox="1"/>
          <p:nvPr/>
        </p:nvSpPr>
        <p:spPr>
          <a:xfrm>
            <a:off x="5355211" y="1656533"/>
            <a:ext cx="6640478" cy="4265783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200" b="1" dirty="0"/>
              <a:t>5. Immagini – encoder: </a:t>
            </a:r>
            <a:r>
              <a:rPr lang="it-IT" sz="2200" b="1" dirty="0" err="1"/>
              <a:t>ViT</a:t>
            </a:r>
            <a:endParaRPr lang="it-IT" sz="2200" b="1" dirty="0" err="1">
              <a:ea typeface="Calibri" panose="020F0502020204030204"/>
              <a:cs typeface="Calibri" panose="020F0502020204030204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200" b="1" dirty="0"/>
              <a:t>Caratteristiche</a:t>
            </a:r>
            <a:r>
              <a:rPr lang="it-IT" sz="2200" dirty="0"/>
              <a:t>:</a:t>
            </a:r>
          </a:p>
          <a:p>
            <a:pPr indent="-3429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ü"/>
            </a:pPr>
            <a:r>
              <a:rPr lang="en-US" sz="2200" dirty="0" err="1"/>
              <a:t>Suggerimenti</a:t>
            </a:r>
            <a:r>
              <a:rPr lang="en-US" sz="2200" dirty="0"/>
              <a:t> </a:t>
            </a:r>
            <a:r>
              <a:rPr lang="en-US" sz="2200" dirty="0" err="1"/>
              <a:t>visivamente</a:t>
            </a:r>
            <a:r>
              <a:rPr lang="en-US" sz="2200" dirty="0"/>
              <a:t> </a:t>
            </a:r>
            <a:r>
              <a:rPr lang="en-US" sz="2200" dirty="0" err="1"/>
              <a:t>coerenti</a:t>
            </a:r>
            <a:r>
              <a:rPr lang="en-US" sz="2200" dirty="0"/>
              <a:t> (es. </a:t>
            </a:r>
            <a:r>
              <a:rPr lang="en-US" sz="2200" dirty="0" err="1"/>
              <a:t>colori</a:t>
            </a:r>
            <a:r>
              <a:rPr lang="en-US" sz="2200" dirty="0"/>
              <a:t>, stile </a:t>
            </a:r>
          </a:p>
          <a:p>
            <a:pPr indent="-3429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ü"/>
            </a:pPr>
            <a:r>
              <a:rPr lang="en-US" sz="2200" dirty="0" err="1"/>
              <a:t>locandine</a:t>
            </a:r>
            <a:r>
              <a:rPr lang="en-US" sz="2200" dirty="0"/>
              <a:t> anni ‘30, film </a:t>
            </a:r>
            <a:r>
              <a:rPr lang="en-US" sz="2200" dirty="0" err="1"/>
              <a:t>animati</a:t>
            </a:r>
            <a:r>
              <a:rPr lang="en-US" sz="2200" dirty="0"/>
              <a:t>)</a:t>
            </a:r>
          </a:p>
          <a:p>
            <a:pPr indent="-3429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ü"/>
            </a:pPr>
            <a:r>
              <a:rPr lang="en-US" sz="2200" dirty="0" err="1"/>
              <a:t>Riconoscimento</a:t>
            </a:r>
            <a:r>
              <a:rPr lang="en-US" sz="2200" dirty="0"/>
              <a:t> di </a:t>
            </a:r>
            <a:r>
              <a:rPr lang="en-US" sz="2200" dirty="0" err="1"/>
              <a:t>oggetti</a:t>
            </a:r>
            <a:r>
              <a:rPr lang="en-US" sz="2200" dirty="0"/>
              <a:t> </a:t>
            </a:r>
            <a:r>
              <a:rPr lang="en-US" sz="2200" dirty="0" err="1"/>
              <a:t>specifici</a:t>
            </a:r>
            <a:endParaRPr lang="en-US" sz="2200" dirty="0"/>
          </a:p>
          <a:p>
            <a:pPr indent="-3429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ü"/>
            </a:pPr>
            <a:r>
              <a:rPr lang="en-US" sz="2200" dirty="0"/>
              <a:t>Bassa </a:t>
            </a:r>
            <a:r>
              <a:rPr lang="en-US" sz="2200" dirty="0" err="1"/>
              <a:t>pertinenza</a:t>
            </a:r>
            <a:r>
              <a:rPr lang="en-US" sz="2200" dirty="0"/>
              <a:t> per </a:t>
            </a:r>
            <a:r>
              <a:rPr lang="en-US" sz="2200" dirty="0" err="1"/>
              <a:t>genere</a:t>
            </a:r>
            <a:r>
              <a:rPr lang="en-US" sz="2200" dirty="0"/>
              <a:t> e </a:t>
            </a:r>
            <a:r>
              <a:rPr lang="en-US" sz="2200" dirty="0" err="1"/>
              <a:t>tematiche</a:t>
            </a:r>
            <a:endParaRPr lang="it-IT" sz="22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200" dirty="0"/>
              <a:t>    </a:t>
            </a:r>
            <a:r>
              <a:rPr lang="it-IT" sz="2200" b="1" dirty="0"/>
              <a:t>Esempi</a:t>
            </a:r>
            <a:r>
              <a:rPr lang="it-IT" sz="2200" dirty="0"/>
              <a:t>:</a:t>
            </a:r>
          </a:p>
          <a:p>
            <a:r>
              <a:rPr lang="en-US" sz="2000" i="1" dirty="0"/>
              <a:t>      </a:t>
            </a:r>
            <a:r>
              <a:rPr lang="en-US" sz="2200" dirty="0"/>
              <a:t>Es. Space Jam → Bicentennial Man (</a:t>
            </a:r>
            <a:r>
              <a:rPr lang="en-US" sz="2200" dirty="0" err="1"/>
              <a:t>visivamente</a:t>
            </a:r>
            <a:r>
              <a:rPr lang="en-US" sz="2200" dirty="0"/>
              <a:t> </a:t>
            </a:r>
          </a:p>
          <a:p>
            <a:r>
              <a:rPr lang="en-US" sz="2200" dirty="0"/>
              <a:t>     </a:t>
            </a:r>
            <a:r>
              <a:rPr lang="en-US" sz="2200" dirty="0" err="1"/>
              <a:t>simili</a:t>
            </a:r>
            <a:r>
              <a:rPr lang="en-US" sz="2200" dirty="0"/>
              <a:t>, </a:t>
            </a:r>
            <a:r>
              <a:rPr lang="en-US" sz="2200" dirty="0" err="1"/>
              <a:t>contenutisticamente</a:t>
            </a:r>
            <a:r>
              <a:rPr lang="en-US" sz="2200" dirty="0"/>
              <a:t> no)</a:t>
            </a:r>
          </a:p>
          <a:p>
            <a:endParaRPr lang="it-IT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it-IT" sz="2200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3107602-9CE7-EBC5-D582-74C1BBB70188}"/>
              </a:ext>
            </a:extLst>
          </p:cNvPr>
          <p:cNvSpPr txBox="1"/>
          <p:nvPr/>
        </p:nvSpPr>
        <p:spPr>
          <a:xfrm>
            <a:off x="-123987" y="0"/>
            <a:ext cx="1284809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b="1" spc="-50">
                <a:solidFill>
                  <a:srgbClr val="253A6B"/>
                </a:solidFill>
                <a:latin typeface="Times New Roman"/>
                <a:cs typeface="Times New Roman"/>
              </a:rPr>
              <a:t>ANALISI QUALITATIVA: RISULTATI PRELIMINARI</a:t>
            </a:r>
            <a:endParaRPr lang="it-IT" sz="4400" b="1" spc="-50" dirty="0">
              <a:solidFill>
                <a:srgbClr val="253A6B"/>
              </a:solidFill>
              <a:latin typeface="Times New Roman"/>
              <a:cs typeface="Times New Roman"/>
            </a:endParaRP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20E26C2A-DBCE-2824-E2D6-966A8B74D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3DA80-BF21-C54C-ABCB-ACE05FFC9829}" type="slidenum">
              <a:rPr lang="it-IT" smtClean="0"/>
              <a:t>18</a:t>
            </a:fld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95C5FB5A-0D4B-26CD-CF07-616D90FED0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36" r="-2" b="-2"/>
          <a:stretch/>
        </p:blipFill>
        <p:spPr>
          <a:xfrm>
            <a:off x="394601" y="1656533"/>
            <a:ext cx="4960610" cy="3815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7463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64BBAA4-C62B-4146-B49F-FE4CC4655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3D25D25-AB7C-F9A8-C128-8494E2191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612" y="313550"/>
            <a:ext cx="12192000" cy="975175"/>
          </a:xfrm>
        </p:spPr>
        <p:txBody>
          <a:bodyPr>
            <a:normAutofit fontScale="90000"/>
          </a:bodyPr>
          <a:lstStyle/>
          <a:p>
            <a:pPr algn="ctr"/>
            <a:r>
              <a:rPr lang="it-IT" sz="4400" b="1" dirty="0">
                <a:solidFill>
                  <a:srgbClr val="253A6B"/>
                </a:solidFill>
                <a:latin typeface="Times New Roman"/>
                <a:ea typeface="+mn-ea"/>
                <a:cs typeface="Times New Roman"/>
              </a:rPr>
              <a:t>SELEZIONE DEI MODELLI PER LA PIATTAFORMA</a:t>
            </a:r>
          </a:p>
        </p:txBody>
      </p:sp>
      <p:pic>
        <p:nvPicPr>
          <p:cNvPr id="8" name="Graphic 7" descr="Segno di spunta">
            <a:extLst>
              <a:ext uri="{FF2B5EF4-FFF2-40B4-BE49-F238E27FC236}">
                <a16:creationId xmlns:a16="http://schemas.microsoft.com/office/drawing/2014/main" id="{BF068ECF-6402-75C7-4C48-381049DB52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432" y="2104325"/>
            <a:ext cx="3094997" cy="3094997"/>
          </a:xfrm>
          <a:prstGeom prst="rect">
            <a:avLst/>
          </a:prstGeom>
        </p:spPr>
      </p:pic>
      <p:sp>
        <p:nvSpPr>
          <p:cNvPr id="16" name="Rectangle 1">
            <a:extLst>
              <a:ext uri="{FF2B5EF4-FFF2-40B4-BE49-F238E27FC236}">
                <a16:creationId xmlns:a16="http://schemas.microsoft.com/office/drawing/2014/main" id="{4CE4E3B7-569C-0F02-9D3E-8BDCC0CD93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89284" y="1682813"/>
            <a:ext cx="11013413" cy="419430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 fontScale="77500" lnSpcReduction="20000"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it-IT" sz="2700" dirty="0">
                <a:solidFill>
                  <a:schemeClr val="tx1"/>
                </a:solidFill>
              </a:rPr>
              <a:t>Dai risultati dell’analisi qualitativa sono stati selezionati i modelli migliori per la realizzazione della piattaforma:</a:t>
            </a: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it-IT" sz="2700" dirty="0">
                <a:solidFill>
                  <a:schemeClr val="tx1"/>
                </a:solidFill>
              </a:rPr>
              <a:t> IG (Collaborative </a:t>
            </a:r>
            <a:r>
              <a:rPr lang="it-IT" sz="2700" dirty="0" err="1">
                <a:solidFill>
                  <a:schemeClr val="tx1"/>
                </a:solidFill>
              </a:rPr>
              <a:t>Graph</a:t>
            </a:r>
            <a:r>
              <a:rPr lang="it-IT" sz="2700" dirty="0">
                <a:solidFill>
                  <a:schemeClr val="tx1"/>
                </a:solidFill>
              </a:rPr>
              <a:t>) </a:t>
            </a:r>
            <a:r>
              <a:rPr lang="it-IT" sz="2700" dirty="0" err="1">
                <a:solidFill>
                  <a:schemeClr val="tx1"/>
                </a:solidFill>
              </a:rPr>
              <a:t>CompGCN</a:t>
            </a:r>
            <a:endParaRPr lang="it-IT" sz="2700" dirty="0">
              <a:solidFill>
                <a:schemeClr val="tx1"/>
              </a:solidFill>
            </a:endParaRP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it-IT" sz="2700" dirty="0">
                <a:solidFill>
                  <a:schemeClr val="tx1"/>
                </a:solidFill>
              </a:rPr>
              <a:t> KG (Knowledge </a:t>
            </a:r>
            <a:r>
              <a:rPr lang="it-IT" sz="2700" dirty="0" err="1">
                <a:solidFill>
                  <a:schemeClr val="tx1"/>
                </a:solidFill>
              </a:rPr>
              <a:t>Graph</a:t>
            </a:r>
            <a:r>
              <a:rPr lang="it-IT" sz="2700" dirty="0">
                <a:solidFill>
                  <a:schemeClr val="tx1"/>
                </a:solidFill>
              </a:rPr>
              <a:t>) </a:t>
            </a:r>
            <a:r>
              <a:rPr lang="it-IT" sz="2700" dirty="0" err="1">
                <a:solidFill>
                  <a:schemeClr val="tx1"/>
                </a:solidFill>
              </a:rPr>
              <a:t>CompGCN</a:t>
            </a:r>
            <a:r>
              <a:rPr lang="it-IT" sz="2700" dirty="0">
                <a:solidFill>
                  <a:schemeClr val="tx1"/>
                </a:solidFill>
              </a:rPr>
              <a:t> </a:t>
            </a: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it-IT" sz="2700" dirty="0">
                <a:solidFill>
                  <a:schemeClr val="tx1"/>
                </a:solidFill>
              </a:rPr>
              <a:t> Text (SBERT)</a:t>
            </a:r>
            <a:endParaRPr lang="it-IT" sz="2700" dirty="0">
              <a:solidFill>
                <a:schemeClr val="tx1"/>
              </a:solidFill>
              <a:ea typeface="Calibri"/>
              <a:cs typeface="Calibri"/>
            </a:endParaRP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it-IT" sz="2700" dirty="0">
                <a:solidFill>
                  <a:schemeClr val="tx1"/>
                </a:solidFill>
              </a:rPr>
              <a:t> Video (R(2+1)D)</a:t>
            </a: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it-IT" sz="2700" dirty="0">
                <a:solidFill>
                  <a:schemeClr val="tx1"/>
                </a:solidFill>
              </a:rPr>
              <a:t> Image (Vision Transformer)</a:t>
            </a: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it-IT" sz="2700" dirty="0">
                <a:solidFill>
                  <a:schemeClr val="tx1"/>
                </a:solidFill>
              </a:rPr>
              <a:t> Audio (</a:t>
            </a:r>
            <a:r>
              <a:rPr lang="it-IT" sz="2700" dirty="0" err="1">
                <a:solidFill>
                  <a:schemeClr val="tx1"/>
                </a:solidFill>
              </a:rPr>
              <a:t>VGGish</a:t>
            </a:r>
            <a:r>
              <a:rPr lang="it-IT" sz="2700" dirty="0">
                <a:solidFill>
                  <a:schemeClr val="tx1"/>
                </a:solidFill>
              </a:rPr>
              <a:t>)</a:t>
            </a:r>
            <a:endParaRPr lang="it-IT" altLang="it-IT" sz="2700" dirty="0">
              <a:solidFill>
                <a:schemeClr val="tx1"/>
              </a:solidFill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it-IT" altLang="it-IT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it-IT" altLang="it-IT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C34054-98F8-4229-885E-04C525969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2AAB964-B835-4B93-A1F3-4A30D1F38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1414211B-57B8-5865-F77E-1DC7C9ECA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3DA80-BF21-C54C-ABCB-ACE05FFC9829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700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9">
            <a:extLst>
              <a:ext uri="{FF2B5EF4-FFF2-40B4-BE49-F238E27FC236}">
                <a16:creationId xmlns:a16="http://schemas.microsoft.com/office/drawing/2014/main" id="{EE1530B0-6F96-46C0-8B3E-3215CB756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754910CF-1B56-45D3-960A-E89F7B3B9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58DFB84-3F67-E6E7-D32E-6D10C0F3D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it-IT" sz="3600" b="1">
                <a:solidFill>
                  <a:srgbClr val="FFFFFF"/>
                </a:solidFill>
                <a:latin typeface="Times New Roman"/>
                <a:ea typeface="+mn-ea"/>
                <a:cs typeface="Times New Roman"/>
              </a:rPr>
              <a:t>Realizzazione Piattaforma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69F804-A677-4B75-95F4-A5E4426FB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graphicFrame>
        <p:nvGraphicFramePr>
          <p:cNvPr id="9" name="Rectangle 1">
            <a:extLst>
              <a:ext uri="{FF2B5EF4-FFF2-40B4-BE49-F238E27FC236}">
                <a16:creationId xmlns:a16="http://schemas.microsoft.com/office/drawing/2014/main" id="{CA96B1B4-0B81-A733-ECA7-96E816148D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7062765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AEC6C4D-9C71-B7FC-FBE1-7225E669C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3DA80-BF21-C54C-ABCB-ACE05FFC9829}" type="slidenum">
              <a:rPr lang="it-IT" smtClean="0">
                <a:solidFill>
                  <a:schemeClr val="tx2">
                    <a:lumMod val="75000"/>
                  </a:schemeClr>
                </a:solidFill>
              </a:rPr>
              <a:t>20</a:t>
            </a:fld>
            <a:endParaRPr lang="it-IT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77345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3D3304-D0D9-9958-8F35-718955926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0738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 b="1" dirty="0">
                <a:solidFill>
                  <a:srgbClr val="253A6B"/>
                </a:solidFill>
                <a:latin typeface="Times New Roman"/>
                <a:ea typeface="+mn-ea"/>
                <a:cs typeface="Times New Roman"/>
              </a:rPr>
              <a:t>FUNZIONAMENTO DELLA PIATTAFORMA</a:t>
            </a:r>
          </a:p>
        </p:txBody>
      </p:sp>
      <p:graphicFrame>
        <p:nvGraphicFramePr>
          <p:cNvPr id="16" name="CasellaDiTesto 3">
            <a:extLst>
              <a:ext uri="{FF2B5EF4-FFF2-40B4-BE49-F238E27FC236}">
                <a16:creationId xmlns:a16="http://schemas.microsoft.com/office/drawing/2014/main" id="{153439A1-F312-FDE1-74E3-605037CCDC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0244682"/>
              </p:ext>
            </p:extLst>
          </p:nvPr>
        </p:nvGraphicFramePr>
        <p:xfrm>
          <a:off x="628072" y="1579418"/>
          <a:ext cx="11139055" cy="41378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7CC3975A-20A6-6E3A-CF1C-5C69B4E71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3DA80-BF21-C54C-ABCB-ACE05FFC9829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820222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18">
            <a:extLst>
              <a:ext uri="{FF2B5EF4-FFF2-40B4-BE49-F238E27FC236}">
                <a16:creationId xmlns:a16="http://schemas.microsoft.com/office/drawing/2014/main" id="{F64BBAA4-C62B-4146-B49F-FE4CC4655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0">
            <a:extLst>
              <a:ext uri="{FF2B5EF4-FFF2-40B4-BE49-F238E27FC236}">
                <a16:creationId xmlns:a16="http://schemas.microsoft.com/office/drawing/2014/main" id="{77C34054-98F8-4229-885E-04C525969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rgbClr val="2788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9" name="Rectangle 22">
            <a:extLst>
              <a:ext uri="{FF2B5EF4-FFF2-40B4-BE49-F238E27FC236}">
                <a16:creationId xmlns:a16="http://schemas.microsoft.com/office/drawing/2014/main" id="{22AAB964-B835-4B93-A1F3-4A30D1F38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8355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D457085-964C-3EB6-5096-9CBEB7ACD408}"/>
              </a:ext>
            </a:extLst>
          </p:cNvPr>
          <p:cNvSpPr txBox="1"/>
          <p:nvPr/>
        </p:nvSpPr>
        <p:spPr>
          <a:xfrm>
            <a:off x="0" y="105722"/>
            <a:ext cx="121920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500" b="1" spc="-50" dirty="0">
                <a:solidFill>
                  <a:srgbClr val="253A6B"/>
                </a:solidFill>
                <a:latin typeface="Times New Roman"/>
                <a:cs typeface="Times New Roman"/>
              </a:rPr>
              <a:t>PERSONALIZZAZIONE PROFILO</a:t>
            </a:r>
          </a:p>
        </p:txBody>
      </p:sp>
      <p:pic>
        <p:nvPicPr>
          <p:cNvPr id="3" name="Immagine 2"/>
          <p:cNvPicPr>
            <a:picLocks noChangeAspect="1"/>
          </p:cNvPicPr>
          <p:nvPr/>
        </p:nvPicPr>
        <p:blipFill rotWithShape="1">
          <a:blip r:embed="rId2"/>
          <a:srcRect t="10100" b="5373"/>
          <a:stretch/>
        </p:blipFill>
        <p:spPr>
          <a:xfrm>
            <a:off x="508000" y="803148"/>
            <a:ext cx="11259698" cy="5353564"/>
          </a:xfrm>
          <a:prstGeom prst="rect">
            <a:avLst/>
          </a:prstGeom>
        </p:spPr>
      </p:pic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20E65F20-6C40-89F3-ADB1-A9D5E64F0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3DA80-BF21-C54C-ABCB-ACE05FFC9829}" type="slidenum">
              <a:rPr lang="it-IT" smtClean="0"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60294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>
            <a:extLst>
              <a:ext uri="{FF2B5EF4-FFF2-40B4-BE49-F238E27FC236}">
                <a16:creationId xmlns:a16="http://schemas.microsoft.com/office/drawing/2014/main" id="{C88F9733-51A7-A6E0-24C1-8232C34BEB2A}"/>
              </a:ext>
            </a:extLst>
          </p:cNvPr>
          <p:cNvSpPr txBox="1"/>
          <p:nvPr/>
        </p:nvSpPr>
        <p:spPr>
          <a:xfrm>
            <a:off x="0" y="105722"/>
            <a:ext cx="121920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500" b="1" spc="-50" dirty="0">
                <a:solidFill>
                  <a:srgbClr val="253A6B"/>
                </a:solidFill>
                <a:latin typeface="Times New Roman"/>
                <a:cs typeface="Times New Roman"/>
              </a:rPr>
              <a:t>PERSONALIZZAZIONE PROFILO</a:t>
            </a:r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 rotWithShape="1">
          <a:blip r:embed="rId2"/>
          <a:srcRect t="10867" r="963" b="5733"/>
          <a:stretch/>
        </p:blipFill>
        <p:spPr>
          <a:xfrm>
            <a:off x="466916" y="812799"/>
            <a:ext cx="11309448" cy="5357091"/>
          </a:xfrm>
          <a:prstGeom prst="rect">
            <a:avLst/>
          </a:prstGeom>
        </p:spPr>
      </p:pic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1143287-EFC0-8AF9-A2C8-31C553D7D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3DA80-BF21-C54C-ABCB-ACE05FFC9829}" type="slidenum">
              <a:rPr lang="it-IT" smtClean="0"/>
              <a:t>23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34956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>
            <a:extLst>
              <a:ext uri="{FF2B5EF4-FFF2-40B4-BE49-F238E27FC236}">
                <a16:creationId xmlns:a16="http://schemas.microsoft.com/office/drawing/2014/main" id="{A3822725-915A-396A-AEA4-F78C53D0AEC2}"/>
              </a:ext>
            </a:extLst>
          </p:cNvPr>
          <p:cNvSpPr txBox="1"/>
          <p:nvPr/>
        </p:nvSpPr>
        <p:spPr>
          <a:xfrm>
            <a:off x="0" y="105722"/>
            <a:ext cx="121920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500" b="1" spc="-50" dirty="0">
                <a:solidFill>
                  <a:srgbClr val="253A6B"/>
                </a:solidFill>
                <a:latin typeface="Times New Roman"/>
                <a:cs typeface="Times New Roman"/>
              </a:rPr>
              <a:t>GENERAZIONE LISTE DI RACCOMANDAZIONI</a:t>
            </a:r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12" y="736664"/>
            <a:ext cx="11494347" cy="5550870"/>
          </a:xfrm>
          <a:prstGeom prst="rect">
            <a:avLst/>
          </a:prstGeom>
        </p:spPr>
      </p:pic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8F05BF99-CD67-9DDE-13E3-5D3A7FC64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3DA80-BF21-C54C-ABCB-ACE05FFC9829}" type="slidenum">
              <a:rPr lang="it-IT" smtClean="0"/>
              <a:t>24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94325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18">
            <a:extLst>
              <a:ext uri="{FF2B5EF4-FFF2-40B4-BE49-F238E27FC236}">
                <a16:creationId xmlns:a16="http://schemas.microsoft.com/office/drawing/2014/main" id="{311973C2-EB8B-452A-A698-4A252FD3A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Rectangle 20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85880C4-430F-BC95-8690-2BFB1D0779E3}"/>
              </a:ext>
            </a:extLst>
          </p:cNvPr>
          <p:cNvSpPr txBox="1"/>
          <p:nvPr/>
        </p:nvSpPr>
        <p:spPr>
          <a:xfrm>
            <a:off x="4949125" y="-219536"/>
            <a:ext cx="7294535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b="1" spc="-50" dirty="0">
                <a:solidFill>
                  <a:srgbClr val="253A6B"/>
                </a:solidFill>
                <a:latin typeface="Times New Roman"/>
                <a:cs typeface="Times New Roman"/>
              </a:rPr>
              <a:t>QUESTIONARI DI VALUTAZIONE</a:t>
            </a:r>
          </a:p>
        </p:txBody>
      </p:sp>
      <p:pic>
        <p:nvPicPr>
          <p:cNvPr id="8" name="Picture 7" descr="Mano che tiene una penna che sfuma un numero su un foglio">
            <a:extLst>
              <a:ext uri="{FF2B5EF4-FFF2-40B4-BE49-F238E27FC236}">
                <a16:creationId xmlns:a16="http://schemas.microsoft.com/office/drawing/2014/main" id="{29FE0BEC-59B8-9719-3F7F-9F0AB1D0B2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328" r="4452" b="1"/>
          <a:stretch/>
        </p:blipFill>
        <p:spPr>
          <a:xfrm>
            <a:off x="20" y="-12128"/>
            <a:ext cx="4654276" cy="6870127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87617" y="2085703"/>
            <a:ext cx="617068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F9EF8B1-8D24-615E-84D1-6200A7F5339F}"/>
              </a:ext>
            </a:extLst>
          </p:cNvPr>
          <p:cNvSpPr txBox="1"/>
          <p:nvPr/>
        </p:nvSpPr>
        <p:spPr>
          <a:xfrm>
            <a:off x="5008355" y="1450756"/>
            <a:ext cx="6829585" cy="4883559"/>
          </a:xfrm>
          <a:prstGeom prst="rect">
            <a:avLst/>
          </a:prstGeom>
          <a:solidFill>
            <a:schemeClr val="bg1"/>
          </a:solidFill>
        </p:spPr>
        <p:txBody>
          <a:bodyPr vert="horz" lIns="0" tIns="45720" rIns="0" bIns="45720" rtlCol="0">
            <a:noAutofit/>
          </a:bodyPr>
          <a:lstStyle/>
          <a:p>
            <a:pPr defTabSz="914400">
              <a:lnSpc>
                <a:spcPct val="15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sz="2300" dirty="0"/>
              <a:t>Per </a:t>
            </a:r>
            <a:r>
              <a:rPr lang="en-US" sz="2300" dirty="0" err="1"/>
              <a:t>ogni</a:t>
            </a:r>
            <a:r>
              <a:rPr lang="en-US" sz="2300" dirty="0"/>
              <a:t> </a:t>
            </a:r>
            <a:r>
              <a:rPr lang="en-US" sz="2300" dirty="0" err="1"/>
              <a:t>lista</a:t>
            </a:r>
            <a:r>
              <a:rPr lang="en-US" sz="2300" dirty="0"/>
              <a:t> </a:t>
            </a:r>
            <a:r>
              <a:rPr lang="en-US" sz="2300" dirty="0" err="1"/>
              <a:t>raccomandata</a:t>
            </a:r>
            <a:r>
              <a:rPr lang="en-US" sz="2300" dirty="0"/>
              <a:t>, </a:t>
            </a:r>
            <a:r>
              <a:rPr lang="en-US" sz="2300" dirty="0" err="1"/>
              <a:t>gli</a:t>
            </a:r>
            <a:r>
              <a:rPr lang="en-US" sz="2300" dirty="0"/>
              <a:t> </a:t>
            </a:r>
            <a:r>
              <a:rPr lang="en-US" sz="2300" dirty="0" err="1"/>
              <a:t>utenti</a:t>
            </a:r>
            <a:r>
              <a:rPr lang="en-US" sz="2300" dirty="0"/>
              <a:t> </a:t>
            </a:r>
            <a:r>
              <a:rPr lang="en-US" sz="2300" dirty="0" err="1"/>
              <a:t>hanno</a:t>
            </a:r>
            <a:r>
              <a:rPr lang="en-US" sz="2300" dirty="0"/>
              <a:t> </a:t>
            </a:r>
            <a:r>
              <a:rPr lang="en-US" sz="2300" dirty="0" err="1"/>
              <a:t>compilato</a:t>
            </a:r>
            <a:r>
              <a:rPr lang="en-US" sz="2300" dirty="0"/>
              <a:t> un </a:t>
            </a:r>
            <a:r>
              <a:rPr lang="en-US" sz="2300" b="1" dirty="0" err="1"/>
              <a:t>questionario</a:t>
            </a:r>
            <a:r>
              <a:rPr lang="en-US" sz="2300" b="1" dirty="0"/>
              <a:t> di 14 </a:t>
            </a:r>
            <a:r>
              <a:rPr lang="en-US" sz="2300" b="1" dirty="0" err="1"/>
              <a:t>domande</a:t>
            </a:r>
            <a:r>
              <a:rPr lang="en-US" sz="2300" b="1" dirty="0"/>
              <a:t>.</a:t>
            </a:r>
            <a:endParaRPr lang="en-US" sz="2300" dirty="0"/>
          </a:p>
          <a:p>
            <a:pPr defTabSz="914400">
              <a:lnSpc>
                <a:spcPct val="15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sz="2300" dirty="0" err="1"/>
              <a:t>Obiettivo</a:t>
            </a:r>
            <a:r>
              <a:rPr lang="en-US" sz="2300" dirty="0"/>
              <a:t>: </a:t>
            </a:r>
            <a:r>
              <a:rPr lang="en-US" sz="2300" b="1" dirty="0" err="1"/>
              <a:t>valutare</a:t>
            </a:r>
            <a:r>
              <a:rPr lang="en-US" sz="2300" b="1" dirty="0"/>
              <a:t> </a:t>
            </a:r>
            <a:r>
              <a:rPr lang="en-US" sz="2300" b="1" dirty="0" err="1"/>
              <a:t>l’efficacia</a:t>
            </a:r>
            <a:r>
              <a:rPr lang="en-US" sz="2300" b="1" dirty="0"/>
              <a:t> </a:t>
            </a:r>
            <a:r>
              <a:rPr lang="en-US" sz="2300" b="1" dirty="0" err="1"/>
              <a:t>delle</a:t>
            </a:r>
            <a:r>
              <a:rPr lang="en-US" sz="2300" b="1" dirty="0"/>
              <a:t> </a:t>
            </a:r>
            <a:r>
              <a:rPr lang="en-US" sz="2300" b="1" dirty="0" err="1"/>
              <a:t>raccomandazioni</a:t>
            </a:r>
            <a:r>
              <a:rPr lang="en-US" sz="2300" b="1" dirty="0"/>
              <a:t>.</a:t>
            </a:r>
            <a:endParaRPr lang="en-US" sz="2300" dirty="0"/>
          </a:p>
          <a:p>
            <a:pPr defTabSz="914400">
              <a:lnSpc>
                <a:spcPct val="15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sz="2300" dirty="0" err="1"/>
              <a:t>Risposte</a:t>
            </a:r>
            <a:r>
              <a:rPr lang="en-US" sz="2300" dirty="0"/>
              <a:t> </a:t>
            </a:r>
            <a:r>
              <a:rPr lang="en-US" sz="2300" dirty="0" err="1"/>
              <a:t>raccolte</a:t>
            </a:r>
            <a:r>
              <a:rPr lang="en-US" sz="2300" dirty="0"/>
              <a:t> con </a:t>
            </a:r>
            <a:r>
              <a:rPr lang="en-US" sz="2300" b="1" dirty="0"/>
              <a:t>scala Likert a 5 </a:t>
            </a:r>
            <a:r>
              <a:rPr lang="en-US" sz="2300" b="1" dirty="0" err="1"/>
              <a:t>valori</a:t>
            </a:r>
            <a:r>
              <a:rPr lang="en-US" sz="2300" dirty="0"/>
              <a:t>:</a:t>
            </a:r>
            <a:br>
              <a:rPr lang="en-US" sz="2300" dirty="0"/>
            </a:br>
            <a:r>
              <a:rPr lang="en-US" sz="2300" dirty="0"/>
              <a:t>1. </a:t>
            </a:r>
            <a:r>
              <a:rPr lang="en-US" sz="2300" dirty="0" err="1"/>
              <a:t>Fortemente</a:t>
            </a:r>
            <a:r>
              <a:rPr lang="en-US" sz="2300" dirty="0"/>
              <a:t> in </a:t>
            </a:r>
            <a:r>
              <a:rPr lang="en-US" sz="2300" dirty="0" err="1"/>
              <a:t>disaccordo</a:t>
            </a:r>
            <a:br>
              <a:rPr lang="en-US" sz="2300" dirty="0"/>
            </a:br>
            <a:r>
              <a:rPr lang="en-US" sz="2300" dirty="0"/>
              <a:t>2. </a:t>
            </a:r>
            <a:r>
              <a:rPr lang="en-US" sz="2300" dirty="0" err="1"/>
              <a:t>Disaccordo</a:t>
            </a:r>
            <a:br>
              <a:rPr lang="en-US" sz="2300" dirty="0"/>
            </a:br>
            <a:r>
              <a:rPr lang="en-US" sz="2300" dirty="0"/>
              <a:t>3. </a:t>
            </a:r>
            <a:r>
              <a:rPr lang="en-US" sz="2300" dirty="0" err="1"/>
              <a:t>Neutrale</a:t>
            </a:r>
            <a:br>
              <a:rPr lang="en-US" sz="2300" dirty="0"/>
            </a:br>
            <a:r>
              <a:rPr lang="en-US" sz="2300" dirty="0"/>
              <a:t>4. </a:t>
            </a:r>
            <a:r>
              <a:rPr lang="en-US" sz="2300" dirty="0" err="1"/>
              <a:t>D’accordo</a:t>
            </a:r>
            <a:br>
              <a:rPr lang="en-US" sz="2300" dirty="0"/>
            </a:br>
            <a:r>
              <a:rPr lang="en-US" sz="2300" dirty="0"/>
              <a:t>5. </a:t>
            </a:r>
            <a:r>
              <a:rPr lang="en-US" sz="2300" dirty="0" err="1"/>
              <a:t>Fortemente</a:t>
            </a:r>
            <a:r>
              <a:rPr lang="en-US" sz="2300" dirty="0"/>
              <a:t> </a:t>
            </a:r>
            <a:r>
              <a:rPr lang="en-US" sz="2300" dirty="0" err="1"/>
              <a:t>d’accordo</a:t>
            </a:r>
            <a:endParaRPr lang="en-US" sz="2300" dirty="0"/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1DD3AA61-B2F2-53E2-7F16-E9847ABAD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3DA80-BF21-C54C-ABCB-ACE05FFC9829}" type="slidenum">
              <a:rPr lang="it-IT" smtClean="0">
                <a:solidFill>
                  <a:schemeClr val="tx2">
                    <a:lumMod val="75000"/>
                  </a:schemeClr>
                </a:solidFill>
              </a:rPr>
              <a:t>25</a:t>
            </a:fld>
            <a:endParaRPr lang="it-IT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21073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E1530B0-6F96-46C0-8B3E-3215CB756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4910CF-1B56-45D3-960A-E89F7B3B9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29A1474-98CF-6E51-842D-A5E288A0D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>
                <a:solidFill>
                  <a:srgbClr val="FFFFFF"/>
                </a:solidFill>
              </a:rPr>
              <a:t>Sondaggio – Macrocategorie di Valutazione</a:t>
            </a:r>
            <a:br>
              <a:rPr lang="en-US" sz="3600">
                <a:solidFill>
                  <a:srgbClr val="FFFFFF"/>
                </a:solidFill>
                <a:effectLst/>
              </a:rPr>
            </a:b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69F804-A677-4B75-95F4-A5E4426FB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graphicFrame>
        <p:nvGraphicFramePr>
          <p:cNvPr id="6" name="CasellaDiTesto 3">
            <a:extLst>
              <a:ext uri="{FF2B5EF4-FFF2-40B4-BE49-F238E27FC236}">
                <a16:creationId xmlns:a16="http://schemas.microsoft.com/office/drawing/2014/main" id="{A03A9999-8DE5-7744-A2EA-5CCBCE3DDD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7953764"/>
              </p:ext>
            </p:extLst>
          </p:nvPr>
        </p:nvGraphicFramePr>
        <p:xfrm>
          <a:off x="4741863" y="371959"/>
          <a:ext cx="7114340" cy="59177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4778BE9-8EF5-7FDA-5789-5F4E0F64A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3DA80-BF21-C54C-ABCB-ACE05FFC9829}" type="slidenum">
              <a:rPr lang="it-IT" smtClean="0">
                <a:solidFill>
                  <a:schemeClr val="tx2">
                    <a:lumMod val="75000"/>
                  </a:schemeClr>
                </a:solidFill>
              </a:rPr>
              <a:t>26</a:t>
            </a:fld>
            <a:endParaRPr lang="it-IT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98144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10580-7AB3-A306-BC7B-EF1F4A424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12B9CE3-3BCF-6D7D-703F-1B202072C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88905"/>
          </a:xfrm>
        </p:spPr>
        <p:txBody>
          <a:bodyPr/>
          <a:lstStyle/>
          <a:p>
            <a:pPr algn="ctr"/>
            <a:r>
              <a:rPr lang="en-US" sz="4800" b="1" dirty="0" err="1">
                <a:solidFill>
                  <a:srgbClr val="253A6B"/>
                </a:solidFill>
                <a:latin typeface="Times New Roman"/>
                <a:ea typeface="+mn-ea"/>
                <a:cs typeface="Times New Roman"/>
              </a:rPr>
              <a:t>Modelli</a:t>
            </a:r>
            <a:r>
              <a:rPr lang="en-US" sz="4800" b="1" dirty="0">
                <a:solidFill>
                  <a:srgbClr val="253A6B"/>
                </a:solidFill>
                <a:latin typeface="Times New Roman"/>
                <a:ea typeface="+mn-ea"/>
                <a:cs typeface="Times New Roman"/>
              </a:rPr>
              <a:t> a </a:t>
            </a:r>
            <a:r>
              <a:rPr lang="en-US" sz="4800" b="1" dirty="0" err="1">
                <a:solidFill>
                  <a:srgbClr val="253A6B"/>
                </a:solidFill>
                <a:latin typeface="Times New Roman"/>
                <a:ea typeface="+mn-ea"/>
                <a:cs typeface="Times New Roman"/>
              </a:rPr>
              <a:t>confronto</a:t>
            </a:r>
            <a:endParaRPr lang="it-IT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8AF8EB81-F278-78CC-C9F1-E128FD8BF2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802"/>
          <a:stretch/>
        </p:blipFill>
        <p:spPr>
          <a:xfrm>
            <a:off x="2015615" y="1751309"/>
            <a:ext cx="8160770" cy="4215538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03FDB269-F21B-A872-38D8-501E9B3C8E8B}"/>
              </a:ext>
            </a:extLst>
          </p:cNvPr>
          <p:cNvSpPr txBox="1"/>
          <p:nvPr/>
        </p:nvSpPr>
        <p:spPr>
          <a:xfrm>
            <a:off x="582237" y="1126837"/>
            <a:ext cx="10740325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2100" b="1" dirty="0">
                <a:solidFill>
                  <a:schemeClr val="tx2">
                    <a:lumMod val="75000"/>
                  </a:schemeClr>
                </a:solidFill>
              </a:rPr>
              <a:t>Metrica utilizzata: </a:t>
            </a:r>
            <a:r>
              <a:rPr lang="en-US" sz="2100" b="1" dirty="0"/>
              <a:t>Media </a:t>
            </a:r>
            <a:r>
              <a:rPr lang="en-US" sz="2100" b="1" dirty="0" err="1"/>
              <a:t>pesata</a:t>
            </a:r>
            <a:r>
              <a:rPr lang="en-US" sz="2100" dirty="0"/>
              <a:t> </a:t>
            </a:r>
            <a:r>
              <a:rPr lang="en-US" sz="2100" dirty="0" err="1"/>
              <a:t>delle</a:t>
            </a:r>
            <a:r>
              <a:rPr lang="en-US" sz="2100" dirty="0"/>
              <a:t> </a:t>
            </a:r>
            <a:r>
              <a:rPr lang="en-US" sz="2100" dirty="0" err="1"/>
              <a:t>risposte</a:t>
            </a:r>
            <a:r>
              <a:rPr lang="en-US" sz="2100" dirty="0"/>
              <a:t> </a:t>
            </a:r>
            <a:r>
              <a:rPr lang="en-US" sz="2100" dirty="0" err="1"/>
              <a:t>su</a:t>
            </a:r>
            <a:r>
              <a:rPr lang="en-US" sz="2100" dirty="0"/>
              <a:t> scala Likert (1–5</a:t>
            </a:r>
            <a:r>
              <a:rPr lang="en-US" sz="2300" dirty="0"/>
              <a:t>)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3C69A65-274B-00A9-8040-484085451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3DA80-BF21-C54C-ABCB-ACE05FFC9829}" type="slidenum">
              <a:rPr lang="it-IT" smtClean="0"/>
              <a:t>27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78226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C8F5C-B948-0323-8BF0-C8C858BF3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EF57002-5C70-0DF4-3345-FC6A2CD77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06764"/>
          </a:xfrm>
        </p:spPr>
        <p:txBody>
          <a:bodyPr>
            <a:normAutofit/>
          </a:bodyPr>
          <a:lstStyle/>
          <a:p>
            <a:pPr algn="ctr"/>
            <a:r>
              <a:rPr lang="it-IT" b="1" dirty="0">
                <a:solidFill>
                  <a:srgbClr val="253A6B"/>
                </a:solidFill>
                <a:latin typeface="Times New Roman"/>
                <a:ea typeface="+mn-ea"/>
                <a:cs typeface="Times New Roman"/>
              </a:rPr>
              <a:t>CONCLUSIONI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079E93D-2913-4180-2BDA-BD91D8537E1D}"/>
              </a:ext>
            </a:extLst>
          </p:cNvPr>
          <p:cNvSpPr txBox="1"/>
          <p:nvPr/>
        </p:nvSpPr>
        <p:spPr>
          <a:xfrm>
            <a:off x="298342" y="1012140"/>
            <a:ext cx="11595315" cy="507831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400" b="1" dirty="0">
                <a:solidFill>
                  <a:schemeClr val="accent5">
                    <a:lumMod val="50000"/>
                  </a:schemeClr>
                </a:solidFill>
              </a:rPr>
              <a:t>MIGLIORI</a:t>
            </a:r>
            <a:r>
              <a:rPr lang="it-IT" sz="2400" b="1" dirty="0"/>
              <a:t>: IG</a:t>
            </a:r>
            <a:r>
              <a:rPr lang="it-IT" sz="2400" dirty="0"/>
              <a:t> (media 3,71) e </a:t>
            </a:r>
            <a:r>
              <a:rPr lang="it-IT" sz="2400" b="1" dirty="0"/>
              <a:t>KG</a:t>
            </a:r>
            <a:r>
              <a:rPr lang="it-IT" sz="2400" dirty="0"/>
              <a:t> (media 3,68)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it-IT" sz="2400" dirty="0"/>
              <a:t>Modelli basati su grafo (</a:t>
            </a:r>
            <a:r>
              <a:rPr lang="it-IT" sz="2400" b="1" dirty="0"/>
              <a:t>IG,KG</a:t>
            </a:r>
            <a:r>
              <a:rPr lang="it-IT" sz="2400" dirty="0"/>
              <a:t>), suggerimenti precisi e omogenei.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it-IT" sz="2400" b="1" dirty="0"/>
              <a:t>KG</a:t>
            </a:r>
            <a:r>
              <a:rPr lang="it-IT" sz="2400" dirty="0"/>
              <a:t> propone film meno variegati (3,17) ricevendo valutazioni più alte per chiarezza dei suggerimenti (media: 3,90 per KG contro 3,79 per IG)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it-IT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400" b="1" dirty="0"/>
              <a:t>POSITIVI:</a:t>
            </a:r>
            <a:endParaRPr lang="it-IT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it-IT" sz="2400" b="1" dirty="0"/>
              <a:t>TEXT (SENTENCE ENCORDERS) : </a:t>
            </a:r>
            <a:r>
              <a:rPr lang="it-IT" sz="2400" dirty="0"/>
              <a:t>media (3,66)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it-IT" sz="2400" dirty="0"/>
              <a:t>buona pertinenza nei suggerimenti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Apprezzamenti</a:t>
            </a:r>
            <a:r>
              <a:rPr lang="en-US" sz="2400" dirty="0"/>
              <a:t> per la </a:t>
            </a:r>
            <a:r>
              <a:rPr lang="en-US" sz="2400" dirty="0" err="1"/>
              <a:t>scoperta</a:t>
            </a:r>
            <a:r>
              <a:rPr lang="en-US" sz="2400" dirty="0"/>
              <a:t> di </a:t>
            </a:r>
            <a:r>
              <a:rPr lang="en-US" sz="2400" dirty="0" err="1"/>
              <a:t>nuovi</a:t>
            </a:r>
            <a:r>
              <a:rPr lang="en-US" sz="2400" dirty="0"/>
              <a:t> </a:t>
            </a:r>
            <a:r>
              <a:rPr lang="en-US" sz="2400" dirty="0" err="1"/>
              <a:t>titoli</a:t>
            </a:r>
            <a:r>
              <a:rPr lang="en-US" sz="2400" dirty="0"/>
              <a:t> (media </a:t>
            </a:r>
            <a:r>
              <a:rPr lang="en-US" sz="2400" dirty="0" err="1"/>
              <a:t>più</a:t>
            </a:r>
            <a:r>
              <a:rPr lang="en-US" sz="2400" dirty="0"/>
              <a:t> </a:t>
            </a:r>
            <a:r>
              <a:rPr lang="en-US" sz="2400" dirty="0" err="1"/>
              <a:t>alta</a:t>
            </a:r>
            <a:r>
              <a:rPr lang="en-US" sz="2400" dirty="0"/>
              <a:t> 3,66)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400" b="1" dirty="0"/>
              <a:t>VIDEO (R(2+1)D): </a:t>
            </a:r>
            <a:r>
              <a:rPr lang="it-IT" sz="2400" dirty="0"/>
              <a:t>media (3,60)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it-IT" sz="2400" dirty="0"/>
              <a:t>Accuratezza leggermente inferiore ai modelli precedenti</a:t>
            </a:r>
            <a:endParaRPr lang="it-IT" sz="2400" b="1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it-IT" sz="2400" dirty="0"/>
              <a:t>Si contraddistingue per l’originalità delle proposte (3,58) 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EF6017A5-92F9-F606-E6A5-E60334F39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3DA80-BF21-C54C-ABCB-ACE05FFC9829}" type="slidenum">
              <a:rPr lang="it-IT" smtClean="0"/>
              <a:t>28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828771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5996F-FE15-B432-B01D-29B4C6626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87D3F7-9232-385D-B3DB-B952C0814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06764"/>
          </a:xfrm>
        </p:spPr>
        <p:txBody>
          <a:bodyPr>
            <a:normAutofit/>
          </a:bodyPr>
          <a:lstStyle/>
          <a:p>
            <a:pPr algn="ctr"/>
            <a:r>
              <a:rPr lang="it-IT" b="1" dirty="0">
                <a:solidFill>
                  <a:srgbClr val="253A6B"/>
                </a:solidFill>
                <a:latin typeface="Times New Roman"/>
                <a:ea typeface="+mn-ea"/>
                <a:cs typeface="Times New Roman"/>
              </a:rPr>
              <a:t>CONCLUSIONI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A1585E8-FB7B-207E-1AFB-757283E50B15}"/>
              </a:ext>
            </a:extLst>
          </p:cNvPr>
          <p:cNvSpPr txBox="1"/>
          <p:nvPr/>
        </p:nvSpPr>
        <p:spPr>
          <a:xfrm>
            <a:off x="263471" y="1006764"/>
            <a:ext cx="11391254" cy="507831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b="1" dirty="0">
                <a:solidFill>
                  <a:srgbClr val="C00000"/>
                </a:solidFill>
              </a:rPr>
              <a:t>MENO EFFICACI</a:t>
            </a:r>
            <a:r>
              <a:rPr lang="it-IT" sz="2400" b="1" dirty="0"/>
              <a:t>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400" b="1" dirty="0"/>
              <a:t>IMAGE (</a:t>
            </a:r>
            <a:r>
              <a:rPr lang="it-IT" sz="2400" b="1" dirty="0" err="1"/>
              <a:t>ViT</a:t>
            </a:r>
            <a:r>
              <a:rPr lang="it-IT" sz="2400" b="1" dirty="0"/>
              <a:t>) : </a:t>
            </a:r>
            <a:r>
              <a:rPr lang="it-IT" sz="2400" dirty="0"/>
              <a:t>media (3,45)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it-IT" sz="2400" dirty="0"/>
              <a:t>Buona varietà dei suggerimenti proposti (3,51)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it-IT" sz="2400" dirty="0"/>
              <a:t>Bassa pertinenza con gli interessi degli utenti (3,17)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it-IT" sz="2400" dirty="0"/>
              <a:t>Bassa propensione all’acquisto dei prodotti da parte degli utenti (3,11)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it-IT" sz="2400" dirty="0"/>
              <a:t>Poca chiarezza nei suggerimenti ottenuti (3,27)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it-IT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AUDIO (</a:t>
            </a:r>
            <a:r>
              <a:rPr lang="en-US" sz="2400" b="1" dirty="0" err="1"/>
              <a:t>VGGish</a:t>
            </a:r>
            <a:r>
              <a:rPr lang="en-US" sz="2400" b="1" dirty="0"/>
              <a:t>) : </a:t>
            </a:r>
            <a:r>
              <a:rPr lang="en-US" sz="2400" dirty="0"/>
              <a:t>media (2,98)</a:t>
            </a:r>
            <a:endParaRPr lang="en-US" sz="2400" b="1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it-IT" sz="2400" dirty="0"/>
              <a:t>Poca chiarezza nei criteri di selezione (3,40)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it-IT" sz="2400" dirty="0"/>
              <a:t>Bassa fiducia da parte degli utenti (3,15)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it-IT" sz="2400" dirty="0"/>
              <a:t>Soddisfazione quasi nulla (3,17)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it-IT" sz="2400" dirty="0"/>
              <a:t>Bassa propensione all’acquisto dei prodotti da parte degli utenti (2,98)</a:t>
            </a:r>
          </a:p>
          <a:p>
            <a:endParaRPr lang="it-IT" sz="2400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AC3FD0-4E68-1166-74E1-8BAA80179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3DA80-BF21-C54C-ABCB-ACE05FFC9829}" type="slidenum">
              <a:rPr lang="it-IT" smtClean="0"/>
              <a:t>29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96589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06764"/>
          </a:xfrm>
        </p:spPr>
        <p:txBody>
          <a:bodyPr>
            <a:normAutofit/>
          </a:bodyPr>
          <a:lstStyle/>
          <a:p>
            <a:pPr algn="ctr"/>
            <a:r>
              <a:rPr lang="it-IT" b="1" dirty="0">
                <a:solidFill>
                  <a:srgbClr val="253A6B"/>
                </a:solidFill>
                <a:latin typeface="Times New Roman"/>
                <a:ea typeface="+mn-ea"/>
                <a:cs typeface="Times New Roman"/>
              </a:rPr>
              <a:t>SVILUPPI FUTURI</a:t>
            </a:r>
          </a:p>
        </p:txBody>
      </p:sp>
      <p:sp>
        <p:nvSpPr>
          <p:cNvPr id="6" name="CasellaDiTesto 5"/>
          <p:cNvSpPr txBox="1"/>
          <p:nvPr/>
        </p:nvSpPr>
        <p:spPr>
          <a:xfrm>
            <a:off x="707402" y="1397674"/>
            <a:ext cx="11319283" cy="40626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it-IT" sz="2400" b="1" dirty="0"/>
              <a:t>Sviluppi Futuri:</a:t>
            </a:r>
          </a:p>
          <a:p>
            <a:pPr>
              <a:buNone/>
            </a:pPr>
            <a:endParaRPr lang="it-IT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2400" b="1" dirty="0"/>
              <a:t>Arricchimento dell’interfaccia utente con informazioni sui film:</a:t>
            </a:r>
            <a:br>
              <a:rPr lang="it-IT" sz="2400" dirty="0"/>
            </a:br>
            <a:r>
              <a:rPr lang="it-IT" sz="2400" dirty="0"/>
              <a:t>	Gli utenti hanno manifestato l’esigenza di poter accedere a un maggior numero di 	dettagli relativi ai film suggeriti, al fine di facilitare le proprie scelte.</a:t>
            </a:r>
          </a:p>
          <a:p>
            <a:pPr>
              <a:buFont typeface="Arial" panose="020B0604020202020204" pitchFamily="34" charset="0"/>
              <a:buChar char="•"/>
            </a:pPr>
            <a:endParaRPr lang="it-IT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2400" b="1" dirty="0"/>
              <a:t>Integrazione delle diverse tecniche di raccomandazione:</a:t>
            </a:r>
            <a:br>
              <a:rPr lang="it-IT" sz="2400" dirty="0"/>
            </a:br>
            <a:r>
              <a:rPr lang="it-IT" sz="2400" dirty="0"/>
              <a:t>	Anziché utilizzare e valutare separatamente le varie tecniche, potrebbe risultare 	vantaggioso combinarle, così da compensare i limiti di ciascun approccio e migliorare 	la qualità complessiva delle raccomandazioni.</a:t>
            </a:r>
          </a:p>
          <a:p>
            <a:pPr marL="285750" indent="-285750">
              <a:buFontTx/>
              <a:buChar char="-"/>
            </a:pP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B12C0C67-A074-82B3-4EE8-C7CF2E32F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3DA80-BF21-C54C-ABCB-ACE05FFC9829}" type="slidenum">
              <a:rPr lang="it-IT" smtClean="0"/>
              <a:t>30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72839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EB8A1B5F-0801-4AFF-A489-335B6A851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47" name="Rectangle 32">
            <a:extLst>
              <a:ext uri="{FF2B5EF4-FFF2-40B4-BE49-F238E27FC236}">
                <a16:creationId xmlns:a16="http://schemas.microsoft.com/office/drawing/2014/main" id="{06201B52-6441-4DBA-BACE-235977581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cxnSp>
        <p:nvCxnSpPr>
          <p:cNvPr id="48" name="Straight Connector 34">
            <a:extLst>
              <a:ext uri="{FF2B5EF4-FFF2-40B4-BE49-F238E27FC236}">
                <a16:creationId xmlns:a16="http://schemas.microsoft.com/office/drawing/2014/main" id="{89DF3DBB-17DD-4058-A944-5578E18A0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9" name="Rectangle 3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A26E8FF-4AF3-9591-643E-A6FB73DBCE4E}"/>
              </a:ext>
            </a:extLst>
          </p:cNvPr>
          <p:cNvSpPr txBox="1"/>
          <p:nvPr/>
        </p:nvSpPr>
        <p:spPr>
          <a:xfrm>
            <a:off x="1207658" y="1183354"/>
            <a:ext cx="10058400" cy="25394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8000" b="1" spc="-5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GRAZIE PER L’ATTENZIONE</a:t>
            </a:r>
          </a:p>
        </p:txBody>
      </p:sp>
      <p:sp>
        <p:nvSpPr>
          <p:cNvPr id="50" name="Rectangle 38">
            <a:extLst>
              <a:ext uri="{FF2B5EF4-FFF2-40B4-BE49-F238E27FC236}">
                <a16:creationId xmlns:a16="http://schemas.microsoft.com/office/drawing/2014/main" id="{1F3985C0-E548-44D2-B30E-F3E42DADE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51" name="Rectangle 40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8443700E-8B07-09EB-4C6A-9C6F1709C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1C3DA80-BF21-C54C-ABCB-ACE05FFC9829}" type="slidenum">
              <a:rPr lang="en-US" smtClean="0"/>
              <a:pPr>
                <a:spcAft>
                  <a:spcPts val="600"/>
                </a:spcAft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02569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ttivo">
  <a:themeElements>
    <a:clrScheme name="Personalizzato 4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FFFFFF"/>
      </a:accent1>
      <a:accent2>
        <a:srgbClr val="1C6294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ttiv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ttiv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3270</TotalTime>
  <Words>1625</Words>
  <Application>Microsoft Office PowerPoint</Application>
  <PresentationFormat>Widescreen</PresentationFormat>
  <Paragraphs>240</Paragraphs>
  <Slides>31</Slides>
  <Notes>5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31</vt:i4>
      </vt:variant>
    </vt:vector>
  </HeadingPairs>
  <TitlesOfParts>
    <vt:vector size="32" baseType="lpstr">
      <vt:lpstr>Retrospettivo</vt:lpstr>
      <vt:lpstr>Presentazione standard di PowerPoint</vt:lpstr>
      <vt:lpstr>Web Moderno e Information Overload</vt:lpstr>
      <vt:lpstr>DOMANDA: COME RIDURRE IL FENOMENO DELL’INFORMATION OVERLOAD?</vt:lpstr>
      <vt:lpstr> COLLABORATIVE FILTERING</vt:lpstr>
      <vt:lpstr>CONTENT BASED FILTERING</vt:lpstr>
      <vt:lpstr>Presentazione standard di PowerPoint</vt:lpstr>
      <vt:lpstr>FONTI DI INFORMAZIONE PER RAPPRESENTARE UN OGGETTO</vt:lpstr>
      <vt:lpstr>Presentazione standard di PowerPoint</vt:lpstr>
      <vt:lpstr>Presentazione standard di PowerPoint</vt:lpstr>
      <vt:lpstr>Presentazione standard di PowerPoint</vt:lpstr>
      <vt:lpstr>Similarità del Coseno</vt:lpstr>
      <vt:lpstr>  OBIETTIVO TESI  </vt:lpstr>
      <vt:lpstr>ANALISI QUALITATIVA</vt:lpstr>
      <vt:lpstr>ANALISI QUALITATIVA: METODO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SELEZIONE DEI MODELLI PER LA PIATTAFORMA</vt:lpstr>
      <vt:lpstr>Realizzazione Piattaforma </vt:lpstr>
      <vt:lpstr>FUNZIONAMENTO DELLA PIATTAFORMA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Sondaggio – Macrocategorie di Valutazione </vt:lpstr>
      <vt:lpstr>Modelli a confronto</vt:lpstr>
      <vt:lpstr>CONCLUSIONI</vt:lpstr>
      <vt:lpstr>CONCLUSIONI</vt:lpstr>
      <vt:lpstr>SVILUPPI FUTURI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Angelo Michele Petrosillo</dc:creator>
  <cp:lastModifiedBy>Lorenzo Bucci</cp:lastModifiedBy>
  <cp:revision>156</cp:revision>
  <dcterms:created xsi:type="dcterms:W3CDTF">2024-01-23T17:49:15Z</dcterms:created>
  <dcterms:modified xsi:type="dcterms:W3CDTF">2025-04-14T10:10:38Z</dcterms:modified>
</cp:coreProperties>
</file>